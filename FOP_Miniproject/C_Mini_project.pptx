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etrona Bold" charset="1" panose="00000000000000000000"/>
      <p:regular r:id="rId19"/>
    </p:embeddedFont>
    <p:embeddedFont>
      <p:font typeface="Inter" charset="1" panose="02000503000000020004"/>
      <p:regular r:id="rId20"/>
    </p:embeddedFont>
    <p:embeddedFont>
      <p:font typeface="Radley" charset="1" panose="00000500000000000000"/>
      <p:regular r:id="rId21"/>
    </p:embeddedFont>
    <p:embeddedFont>
      <p:font typeface="Marykate" charset="1" panose="00000000000000000000"/>
      <p:regular r:id="rId27"/>
    </p:embeddedFont>
    <p:embeddedFont>
      <p:font typeface="Nunito" charset="1" panose="00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notesSlides/notesSlide7.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2" Target="../notesSlides/notesSlide5.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2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DFAF7"/>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50238" y="1174111"/>
            <a:ext cx="9445523" cy="1987153"/>
          </a:xfrm>
          <a:prstGeom prst="rect">
            <a:avLst/>
          </a:prstGeom>
        </p:spPr>
        <p:txBody>
          <a:bodyPr anchor="t" rtlCol="false" tIns="0" lIns="0" bIns="0" rIns="0">
            <a:spAutoFit/>
          </a:bodyPr>
          <a:lstStyle/>
          <a:p>
            <a:pPr algn="l">
              <a:lnSpc>
                <a:spcPts val="7625"/>
              </a:lnSpc>
            </a:pPr>
            <a:r>
              <a:rPr lang="en-US" b="true" sz="6124">
                <a:solidFill>
                  <a:srgbClr val="020A0F"/>
                </a:solidFill>
                <a:latin typeface="Petrona Bold"/>
                <a:ea typeface="Petrona Bold"/>
                <a:cs typeface="Petrona Bold"/>
                <a:sym typeface="Petrona Bold"/>
              </a:rPr>
              <a:t>Why C is the Mother of All Programming Languages</a:t>
            </a:r>
          </a:p>
        </p:txBody>
      </p:sp>
      <p:sp>
        <p:nvSpPr>
          <p:cNvPr name="TextBox 9" id="9"/>
          <p:cNvSpPr txBox="true"/>
          <p:nvPr/>
        </p:nvSpPr>
        <p:spPr>
          <a:xfrm rot="0">
            <a:off x="7850238" y="4097971"/>
            <a:ext cx="9445523" cy="3548142"/>
          </a:xfrm>
          <a:prstGeom prst="rect">
            <a:avLst/>
          </a:prstGeom>
        </p:spPr>
        <p:txBody>
          <a:bodyPr anchor="t" rtlCol="false" tIns="0" lIns="0" bIns="0" rIns="0">
            <a:spAutoFit/>
          </a:bodyPr>
          <a:lstStyle/>
          <a:p>
            <a:pPr algn="l">
              <a:lnSpc>
                <a:spcPts val="3561"/>
              </a:lnSpc>
            </a:pPr>
            <a:r>
              <a:rPr lang="en-US" sz="2187">
                <a:solidFill>
                  <a:srgbClr val="272525"/>
                </a:solidFill>
                <a:latin typeface="Inter"/>
                <a:ea typeface="Inter"/>
                <a:cs typeface="Inter"/>
                <a:sym typeface="Inter"/>
              </a:rPr>
              <a:t>Division -4 D2</a:t>
            </a:r>
          </a:p>
          <a:p>
            <a:pPr algn="l">
              <a:lnSpc>
                <a:spcPts val="3561"/>
              </a:lnSpc>
            </a:pPr>
            <a:r>
              <a:rPr lang="en-US" sz="2187">
                <a:solidFill>
                  <a:srgbClr val="272525"/>
                </a:solidFill>
                <a:latin typeface="Inter"/>
                <a:ea typeface="Inter"/>
                <a:cs typeface="Inter"/>
                <a:sym typeface="Inter"/>
              </a:rPr>
              <a:t>Team Members :</a:t>
            </a:r>
          </a:p>
          <a:p>
            <a:pPr algn="l" marL="472282" indent="-236141" lvl="1">
              <a:lnSpc>
                <a:spcPts val="3561"/>
              </a:lnSpc>
              <a:buAutoNum type="arabicPeriod" startAt="1"/>
            </a:pPr>
            <a:r>
              <a:rPr lang="en-US" sz="2187">
                <a:solidFill>
                  <a:srgbClr val="272525"/>
                </a:solidFill>
                <a:latin typeface="Inter"/>
                <a:ea typeface="Inter"/>
                <a:cs typeface="Inter"/>
                <a:sym typeface="Inter"/>
              </a:rPr>
              <a:t>Uday Pratap Rathore - 1262251287</a:t>
            </a:r>
          </a:p>
          <a:p>
            <a:pPr algn="l" marL="472282" indent="-236141" lvl="1">
              <a:lnSpc>
                <a:spcPts val="3561"/>
              </a:lnSpc>
              <a:buAutoNum type="arabicPeriod" startAt="1"/>
            </a:pPr>
            <a:r>
              <a:rPr lang="en-US" sz="2187">
                <a:solidFill>
                  <a:srgbClr val="272525"/>
                </a:solidFill>
                <a:latin typeface="Inter"/>
                <a:ea typeface="Inter"/>
                <a:cs typeface="Inter"/>
                <a:sym typeface="Inter"/>
              </a:rPr>
              <a:t>Vedika Patil - 1262252481</a:t>
            </a:r>
          </a:p>
          <a:p>
            <a:pPr algn="l" marL="472282" indent="-236141" lvl="1">
              <a:lnSpc>
                <a:spcPts val="3561"/>
              </a:lnSpc>
              <a:buAutoNum type="arabicPeriod" startAt="1"/>
            </a:pPr>
            <a:r>
              <a:rPr lang="en-US" sz="2187">
                <a:solidFill>
                  <a:srgbClr val="272525"/>
                </a:solidFill>
                <a:latin typeface="Inter"/>
                <a:ea typeface="Inter"/>
                <a:cs typeface="Inter"/>
                <a:sym typeface="Inter"/>
              </a:rPr>
              <a:t>Yugam Jain - 1262253396</a:t>
            </a:r>
          </a:p>
          <a:p>
            <a:pPr algn="l" marL="472282" indent="-236141" lvl="1">
              <a:lnSpc>
                <a:spcPts val="3561"/>
              </a:lnSpc>
              <a:buAutoNum type="arabicPeriod" startAt="1"/>
            </a:pPr>
            <a:r>
              <a:rPr lang="en-US" sz="2187">
                <a:solidFill>
                  <a:srgbClr val="272525"/>
                </a:solidFill>
                <a:latin typeface="Inter"/>
                <a:ea typeface="Inter"/>
                <a:cs typeface="Inter"/>
                <a:sym typeface="Inter"/>
              </a:rPr>
              <a:t>Saarthak Deshmane - 1262253032</a:t>
            </a:r>
          </a:p>
          <a:p>
            <a:pPr algn="l" marL="472282" indent="-236141" lvl="1">
              <a:lnSpc>
                <a:spcPts val="3561"/>
              </a:lnSpc>
              <a:buAutoNum type="arabicPeriod" startAt="1"/>
            </a:pPr>
            <a:r>
              <a:rPr lang="en-US" sz="2187">
                <a:solidFill>
                  <a:srgbClr val="272525"/>
                </a:solidFill>
                <a:latin typeface="Inter"/>
                <a:ea typeface="Inter"/>
                <a:cs typeface="Inter"/>
                <a:sym typeface="Inter"/>
              </a:rPr>
              <a:t>Samidha Saxena - 1262253502</a:t>
            </a:r>
          </a:p>
          <a:p>
            <a:pPr algn="l">
              <a:lnSpc>
                <a:spcPts val="3562"/>
              </a:lnSpc>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AF2E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2011672"/>
            <a:chOff x="0" y="0"/>
            <a:chExt cx="22606000" cy="2682230"/>
          </a:xfrm>
        </p:grpSpPr>
        <p:sp>
          <p:nvSpPr>
            <p:cNvPr name="AutoShape 3" id="3"/>
            <p:cNvSpPr/>
            <p:nvPr/>
          </p:nvSpPr>
          <p:spPr>
            <a:xfrm>
              <a:off x="0" y="2669530"/>
              <a:ext cx="22606000" cy="0"/>
            </a:xfrm>
            <a:prstGeom prst="line">
              <a:avLst/>
            </a:prstGeom>
            <a:ln cap="flat" w="25400">
              <a:solidFill>
                <a:srgbClr val="FF5757"/>
              </a:solidFill>
              <a:prstDash val="solid"/>
              <a:headEnd type="none" len="sm" w="sm"/>
              <a:tailEnd type="none" len="sm" w="sm"/>
            </a:ln>
          </p:spPr>
        </p:sp>
        <p:sp>
          <p:nvSpPr>
            <p:cNvPr name="TextBox 4" id="4"/>
            <p:cNvSpPr txBox="true"/>
            <p:nvPr/>
          </p:nvSpPr>
          <p:spPr>
            <a:xfrm rot="0">
              <a:off x="0" y="257175"/>
              <a:ext cx="22606000" cy="2380183"/>
            </a:xfrm>
            <a:prstGeom prst="rect">
              <a:avLst/>
            </a:prstGeom>
          </p:spPr>
          <p:txBody>
            <a:bodyPr anchor="t" rtlCol="false" tIns="0" lIns="0" bIns="0" rIns="0">
              <a:spAutoFit/>
            </a:bodyPr>
            <a:lstStyle/>
            <a:p>
              <a:pPr algn="ctr" marL="0" indent="0" lvl="0">
                <a:lnSpc>
                  <a:spcPts val="12999"/>
                </a:lnSpc>
              </a:pPr>
              <a:r>
                <a:rPr lang="en-US" sz="12999" spc="-259">
                  <a:solidFill>
                    <a:srgbClr val="FF5757"/>
                  </a:solidFill>
                  <a:latin typeface="Radley"/>
                  <a:ea typeface="Radley"/>
                  <a:cs typeface="Radley"/>
                  <a:sym typeface="Radley"/>
                </a:rPr>
                <a:t>Introduction</a:t>
              </a:r>
            </a:p>
          </p:txBody>
        </p:sp>
      </p:grpSp>
      <p:sp>
        <p:nvSpPr>
          <p:cNvPr name="TextBox 5" id="5"/>
          <p:cNvSpPr txBox="true"/>
          <p:nvPr/>
        </p:nvSpPr>
        <p:spPr>
          <a:xfrm rot="0">
            <a:off x="0" y="3718227"/>
            <a:ext cx="18288000" cy="2936270"/>
          </a:xfrm>
          <a:prstGeom prst="rect">
            <a:avLst/>
          </a:prstGeom>
        </p:spPr>
        <p:txBody>
          <a:bodyPr anchor="t" rtlCol="false" tIns="0" lIns="0" bIns="0" rIns="0">
            <a:spAutoFit/>
          </a:bodyPr>
          <a:lstStyle/>
          <a:p>
            <a:pPr algn="ctr">
              <a:lnSpc>
                <a:spcPts val="4601"/>
              </a:lnSpc>
              <a:spcBef>
                <a:spcPct val="0"/>
              </a:spcBef>
            </a:pPr>
            <a:r>
              <a:rPr lang="en-US" sz="4601" spc="-92">
                <a:solidFill>
                  <a:srgbClr val="000000"/>
                </a:solidFill>
                <a:latin typeface="Radley"/>
                <a:ea typeface="Radley"/>
                <a:cs typeface="Radley"/>
                <a:sym typeface="Radley"/>
              </a:rPr>
              <a:t>C </a:t>
            </a:r>
            <a:r>
              <a:rPr lang="en-US" sz="4601" spc="-92">
                <a:solidFill>
                  <a:srgbClr val="000000"/>
                </a:solidFill>
                <a:latin typeface="Radley"/>
                <a:ea typeface="Radley"/>
                <a:cs typeface="Radley"/>
                <a:sym typeface="Radley"/>
              </a:rPr>
              <a:t>is a powerful and influential programming language developed by Dennis Ritchie. It replaced complex assembly language and became the foundation of many modern programming languages. Known for its simplicity, speed, and efficiency, C is widely used in operating systems and software development.</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2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DFAF7"/>
            </a:solidFill>
          </p:spPr>
        </p:sp>
      </p:grpSp>
      <p:sp>
        <p:nvSpPr>
          <p:cNvPr name="TextBox 6" id="6"/>
          <p:cNvSpPr txBox="true"/>
          <p:nvPr/>
        </p:nvSpPr>
        <p:spPr>
          <a:xfrm rot="0">
            <a:off x="992238" y="1321146"/>
            <a:ext cx="10511285" cy="1012622"/>
          </a:xfrm>
          <a:prstGeom prst="rect">
            <a:avLst/>
          </a:prstGeom>
        </p:spPr>
        <p:txBody>
          <a:bodyPr anchor="t" rtlCol="false" tIns="0" lIns="0" bIns="0" rIns="0">
            <a:spAutoFit/>
          </a:bodyPr>
          <a:lstStyle/>
          <a:p>
            <a:pPr algn="l">
              <a:lnSpc>
                <a:spcPts val="7625"/>
              </a:lnSpc>
            </a:pPr>
            <a:r>
              <a:rPr lang="en-US" sz="6124" b="true">
                <a:solidFill>
                  <a:srgbClr val="F95F88"/>
                </a:solidFill>
                <a:latin typeface="Petrona Bold"/>
                <a:ea typeface="Petrona Bold"/>
                <a:cs typeface="Petrona Bold"/>
                <a:sym typeface="Petrona Bold"/>
              </a:rPr>
              <a:t>The Timeline of C's Evolution</a:t>
            </a:r>
          </a:p>
        </p:txBody>
      </p:sp>
      <p:sp>
        <p:nvSpPr>
          <p:cNvPr name="TextBox 7" id="7"/>
          <p:cNvSpPr txBox="true"/>
          <p:nvPr/>
        </p:nvSpPr>
        <p:spPr>
          <a:xfrm rot="0">
            <a:off x="992238" y="2428132"/>
            <a:ext cx="5209137" cy="506463"/>
          </a:xfrm>
          <a:prstGeom prst="rect">
            <a:avLst/>
          </a:prstGeom>
        </p:spPr>
        <p:txBody>
          <a:bodyPr anchor="t" rtlCol="false" tIns="0" lIns="0" bIns="0" rIns="0">
            <a:spAutoFit/>
          </a:bodyPr>
          <a:lstStyle/>
          <a:p>
            <a:pPr algn="l">
              <a:lnSpc>
                <a:spcPts val="3812"/>
              </a:lnSpc>
            </a:pPr>
            <a:r>
              <a:rPr lang="en-US" sz="3062" b="true">
                <a:solidFill>
                  <a:srgbClr val="F95F88"/>
                </a:solidFill>
                <a:latin typeface="Petrona Bold"/>
                <a:ea typeface="Petrona Bold"/>
                <a:cs typeface="Petrona Bold"/>
                <a:sym typeface="Petrona Bold"/>
              </a:rPr>
              <a:t>Key Milestones in C's Journey</a:t>
            </a:r>
          </a:p>
        </p:txBody>
      </p:sp>
      <p:grpSp>
        <p:nvGrpSpPr>
          <p:cNvPr name="Group 8" id="8"/>
          <p:cNvGrpSpPr/>
          <p:nvPr/>
        </p:nvGrpSpPr>
        <p:grpSpPr>
          <a:xfrm rot="0">
            <a:off x="992238" y="6228759"/>
            <a:ext cx="16303523" cy="38100"/>
            <a:chOff x="0" y="0"/>
            <a:chExt cx="21738031" cy="50800"/>
          </a:xfrm>
        </p:grpSpPr>
        <p:sp>
          <p:nvSpPr>
            <p:cNvPr name="Freeform 9" id="9"/>
            <p:cNvSpPr/>
            <p:nvPr/>
          </p:nvSpPr>
          <p:spPr>
            <a:xfrm flipH="false" flipV="false" rot="0">
              <a:off x="0" y="0"/>
              <a:ext cx="21738082" cy="50800"/>
            </a:xfrm>
            <a:custGeom>
              <a:avLst/>
              <a:gdLst/>
              <a:ahLst/>
              <a:cxnLst/>
              <a:rect r="r" b="b" t="t" l="l"/>
              <a:pathLst>
                <a:path h="50800" w="21738082">
                  <a:moveTo>
                    <a:pt x="0" y="25400"/>
                  </a:moveTo>
                  <a:cubicBezTo>
                    <a:pt x="0" y="11430"/>
                    <a:pt x="11430" y="0"/>
                    <a:pt x="25400" y="0"/>
                  </a:cubicBezTo>
                  <a:lnTo>
                    <a:pt x="21712682" y="0"/>
                  </a:lnTo>
                  <a:cubicBezTo>
                    <a:pt x="21726652" y="0"/>
                    <a:pt x="21738082" y="11430"/>
                    <a:pt x="21738082" y="25400"/>
                  </a:cubicBezTo>
                  <a:cubicBezTo>
                    <a:pt x="21738082" y="39370"/>
                    <a:pt x="21726652" y="50800"/>
                    <a:pt x="21712682" y="50800"/>
                  </a:cubicBezTo>
                  <a:lnTo>
                    <a:pt x="25400" y="50800"/>
                  </a:lnTo>
                  <a:cubicBezTo>
                    <a:pt x="11430" y="50800"/>
                    <a:pt x="0" y="39370"/>
                    <a:pt x="0" y="25400"/>
                  </a:cubicBezTo>
                  <a:close/>
                </a:path>
              </a:pathLst>
            </a:custGeom>
            <a:solidFill>
              <a:srgbClr val="C6BDDA"/>
            </a:solidFill>
          </p:spPr>
        </p:sp>
      </p:grpSp>
      <p:grpSp>
        <p:nvGrpSpPr>
          <p:cNvPr name="Group 10" id="10"/>
          <p:cNvGrpSpPr/>
          <p:nvPr/>
        </p:nvGrpSpPr>
        <p:grpSpPr>
          <a:xfrm rot="0">
            <a:off x="2646759" y="5378206"/>
            <a:ext cx="38100" cy="850554"/>
            <a:chOff x="0" y="0"/>
            <a:chExt cx="50800" cy="1134072"/>
          </a:xfrm>
        </p:grpSpPr>
        <p:sp>
          <p:nvSpPr>
            <p:cNvPr name="Freeform 11" id="11"/>
            <p:cNvSpPr/>
            <p:nvPr/>
          </p:nvSpPr>
          <p:spPr>
            <a:xfrm flipH="false" flipV="false" rot="0">
              <a:off x="0" y="0"/>
              <a:ext cx="50800" cy="1134110"/>
            </a:xfrm>
            <a:custGeom>
              <a:avLst/>
              <a:gdLst/>
              <a:ahLst/>
              <a:cxnLst/>
              <a:rect r="r" b="b" t="t" l="l"/>
              <a:pathLst>
                <a:path h="1134110" w="50800">
                  <a:moveTo>
                    <a:pt x="0" y="25400"/>
                  </a:moveTo>
                  <a:cubicBezTo>
                    <a:pt x="0" y="11430"/>
                    <a:pt x="11430" y="0"/>
                    <a:pt x="25400" y="0"/>
                  </a:cubicBezTo>
                  <a:cubicBezTo>
                    <a:pt x="39370" y="0"/>
                    <a:pt x="50800" y="11430"/>
                    <a:pt x="50800" y="25400"/>
                  </a:cubicBezTo>
                  <a:lnTo>
                    <a:pt x="50800" y="1108710"/>
                  </a:lnTo>
                  <a:cubicBezTo>
                    <a:pt x="50800" y="1122680"/>
                    <a:pt x="39370" y="1134110"/>
                    <a:pt x="25400" y="1134110"/>
                  </a:cubicBezTo>
                  <a:cubicBezTo>
                    <a:pt x="11430" y="1134110"/>
                    <a:pt x="0" y="1122680"/>
                    <a:pt x="0" y="1108710"/>
                  </a:cubicBezTo>
                  <a:close/>
                </a:path>
              </a:pathLst>
            </a:custGeom>
            <a:solidFill>
              <a:srgbClr val="C6BDDA"/>
            </a:solidFill>
          </p:spPr>
        </p:sp>
      </p:grpSp>
      <p:grpSp>
        <p:nvGrpSpPr>
          <p:cNvPr name="Group 12" id="12"/>
          <p:cNvGrpSpPr/>
          <p:nvPr/>
        </p:nvGrpSpPr>
        <p:grpSpPr>
          <a:xfrm rot="0">
            <a:off x="2342112" y="5905052"/>
            <a:ext cx="647405" cy="647405"/>
            <a:chOff x="0" y="0"/>
            <a:chExt cx="863206" cy="863206"/>
          </a:xfrm>
        </p:grpSpPr>
        <p:sp>
          <p:nvSpPr>
            <p:cNvPr name="Freeform 13" id="13"/>
            <p:cNvSpPr/>
            <p:nvPr/>
          </p:nvSpPr>
          <p:spPr>
            <a:xfrm flipH="false" flipV="false" rot="0">
              <a:off x="6350" y="6350"/>
              <a:ext cx="850519" cy="850519"/>
            </a:xfrm>
            <a:custGeom>
              <a:avLst/>
              <a:gdLst/>
              <a:ahLst/>
              <a:cxnLst/>
              <a:rect r="r" b="b" t="t" l="l"/>
              <a:pathLst>
                <a:path h="850519" w="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name="Freeform 14" id="14"/>
            <p:cNvSpPr/>
            <p:nvPr/>
          </p:nvSpPr>
          <p:spPr>
            <a:xfrm flipH="false" flipV="false" rot="0">
              <a:off x="0" y="0"/>
              <a:ext cx="863219" cy="863219"/>
            </a:xfrm>
            <a:custGeom>
              <a:avLst/>
              <a:gdLst/>
              <a:ahLst/>
              <a:cxnLst/>
              <a:rect r="r" b="b" t="t" l="l"/>
              <a:pathLst>
                <a:path h="863219" w="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sp>
        <p:nvSpPr>
          <p:cNvPr name="TextBox 15" id="15"/>
          <p:cNvSpPr txBox="true"/>
          <p:nvPr/>
        </p:nvSpPr>
        <p:spPr>
          <a:xfrm rot="0">
            <a:off x="2431923" y="5993530"/>
            <a:ext cx="467763" cy="527599"/>
          </a:xfrm>
          <a:prstGeom prst="rect">
            <a:avLst/>
          </a:prstGeom>
        </p:spPr>
        <p:txBody>
          <a:bodyPr anchor="t" rtlCol="false" tIns="0" lIns="0" bIns="0" rIns="0">
            <a:spAutoFit/>
          </a:bodyPr>
          <a:lstStyle/>
          <a:p>
            <a:pPr algn="ctr">
              <a:lnSpc>
                <a:spcPts val="3625"/>
              </a:lnSpc>
            </a:pPr>
            <a:r>
              <a:rPr lang="en-US" sz="3625" b="true">
                <a:solidFill>
                  <a:srgbClr val="272525"/>
                </a:solidFill>
                <a:latin typeface="Petrona Bold"/>
                <a:ea typeface="Petrona Bold"/>
                <a:cs typeface="Petrona Bold"/>
                <a:sym typeface="Petrona Bold"/>
              </a:rPr>
              <a:t>1</a:t>
            </a:r>
          </a:p>
        </p:txBody>
      </p:sp>
      <p:sp>
        <p:nvSpPr>
          <p:cNvPr name="TextBox 16" id="16"/>
          <p:cNvSpPr txBox="true"/>
          <p:nvPr/>
        </p:nvSpPr>
        <p:spPr>
          <a:xfrm rot="0">
            <a:off x="1275683" y="3679179"/>
            <a:ext cx="2780262" cy="506463"/>
          </a:xfrm>
          <a:prstGeom prst="rect">
            <a:avLst/>
          </a:prstGeom>
        </p:spPr>
        <p:txBody>
          <a:bodyPr anchor="t" rtlCol="false" tIns="0" lIns="0" bIns="0" rIns="0">
            <a:spAutoFit/>
          </a:bodyPr>
          <a:lstStyle/>
          <a:p>
            <a:pPr algn="ctr">
              <a:lnSpc>
                <a:spcPts val="3812"/>
              </a:lnSpc>
            </a:pPr>
            <a:r>
              <a:rPr lang="en-US" sz="3062" b="true">
                <a:solidFill>
                  <a:srgbClr val="272525"/>
                </a:solidFill>
                <a:latin typeface="Petrona Bold"/>
                <a:ea typeface="Petrona Bold"/>
                <a:cs typeface="Petrona Bold"/>
                <a:sym typeface="Petrona Bold"/>
              </a:rPr>
              <a:t>1969</a:t>
            </a:r>
          </a:p>
        </p:txBody>
      </p:sp>
      <p:sp>
        <p:nvSpPr>
          <p:cNvPr name="TextBox 17" id="17"/>
          <p:cNvSpPr txBox="true"/>
          <p:nvPr/>
        </p:nvSpPr>
        <p:spPr>
          <a:xfrm rot="0">
            <a:off x="1244651" y="4498181"/>
            <a:ext cx="2780262" cy="539353"/>
          </a:xfrm>
          <a:prstGeom prst="rect">
            <a:avLst/>
          </a:prstGeom>
        </p:spPr>
        <p:txBody>
          <a:bodyPr anchor="t" rtlCol="false" tIns="0" lIns="0" bIns="0" rIns="0">
            <a:spAutoFit/>
          </a:bodyPr>
          <a:lstStyle/>
          <a:p>
            <a:pPr algn="ctr">
              <a:lnSpc>
                <a:spcPts val="3562"/>
              </a:lnSpc>
            </a:pPr>
            <a:r>
              <a:rPr lang="en-US" sz="2187">
                <a:solidFill>
                  <a:srgbClr val="272525"/>
                </a:solidFill>
                <a:latin typeface="Inter"/>
                <a:ea typeface="Inter"/>
                <a:cs typeface="Inter"/>
                <a:sym typeface="Inter"/>
              </a:rPr>
              <a:t>The B Language</a:t>
            </a:r>
          </a:p>
        </p:txBody>
      </p:sp>
      <p:grpSp>
        <p:nvGrpSpPr>
          <p:cNvPr name="Group 18" id="18"/>
          <p:cNvGrpSpPr/>
          <p:nvPr/>
        </p:nvGrpSpPr>
        <p:grpSpPr>
          <a:xfrm rot="0">
            <a:off x="4497591" y="6228759"/>
            <a:ext cx="38100" cy="850554"/>
            <a:chOff x="0" y="0"/>
            <a:chExt cx="50800" cy="1134072"/>
          </a:xfrm>
        </p:grpSpPr>
        <p:sp>
          <p:nvSpPr>
            <p:cNvPr name="Freeform 19" id="19"/>
            <p:cNvSpPr/>
            <p:nvPr/>
          </p:nvSpPr>
          <p:spPr>
            <a:xfrm flipH="false" flipV="false" rot="0">
              <a:off x="0" y="0"/>
              <a:ext cx="50800" cy="1134110"/>
            </a:xfrm>
            <a:custGeom>
              <a:avLst/>
              <a:gdLst/>
              <a:ahLst/>
              <a:cxnLst/>
              <a:rect r="r" b="b" t="t" l="l"/>
              <a:pathLst>
                <a:path h="1134110" w="50800">
                  <a:moveTo>
                    <a:pt x="0" y="25400"/>
                  </a:moveTo>
                  <a:cubicBezTo>
                    <a:pt x="0" y="11430"/>
                    <a:pt x="11430" y="0"/>
                    <a:pt x="25400" y="0"/>
                  </a:cubicBezTo>
                  <a:cubicBezTo>
                    <a:pt x="39370" y="0"/>
                    <a:pt x="50800" y="11430"/>
                    <a:pt x="50800" y="25400"/>
                  </a:cubicBezTo>
                  <a:lnTo>
                    <a:pt x="50800" y="1108710"/>
                  </a:lnTo>
                  <a:cubicBezTo>
                    <a:pt x="50800" y="1122680"/>
                    <a:pt x="39370" y="1134110"/>
                    <a:pt x="25400" y="1134110"/>
                  </a:cubicBezTo>
                  <a:cubicBezTo>
                    <a:pt x="11430" y="1134110"/>
                    <a:pt x="0" y="1122680"/>
                    <a:pt x="0" y="1108710"/>
                  </a:cubicBezTo>
                  <a:close/>
                </a:path>
              </a:pathLst>
            </a:custGeom>
            <a:solidFill>
              <a:srgbClr val="C6BDDA"/>
            </a:solidFill>
          </p:spPr>
        </p:sp>
      </p:grpSp>
      <p:grpSp>
        <p:nvGrpSpPr>
          <p:cNvPr name="Group 20" id="20"/>
          <p:cNvGrpSpPr/>
          <p:nvPr/>
        </p:nvGrpSpPr>
        <p:grpSpPr>
          <a:xfrm rot="0">
            <a:off x="4192934" y="5905052"/>
            <a:ext cx="647405" cy="647405"/>
            <a:chOff x="0" y="0"/>
            <a:chExt cx="863206" cy="863206"/>
          </a:xfrm>
        </p:grpSpPr>
        <p:sp>
          <p:nvSpPr>
            <p:cNvPr name="Freeform 21" id="21"/>
            <p:cNvSpPr/>
            <p:nvPr/>
          </p:nvSpPr>
          <p:spPr>
            <a:xfrm flipH="false" flipV="false" rot="0">
              <a:off x="6350" y="6350"/>
              <a:ext cx="850519" cy="850519"/>
            </a:xfrm>
            <a:custGeom>
              <a:avLst/>
              <a:gdLst/>
              <a:ahLst/>
              <a:cxnLst/>
              <a:rect r="r" b="b" t="t" l="l"/>
              <a:pathLst>
                <a:path h="850519" w="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name="Freeform 22" id="22"/>
            <p:cNvSpPr/>
            <p:nvPr/>
          </p:nvSpPr>
          <p:spPr>
            <a:xfrm flipH="false" flipV="false" rot="0">
              <a:off x="0" y="0"/>
              <a:ext cx="863219" cy="863219"/>
            </a:xfrm>
            <a:custGeom>
              <a:avLst/>
              <a:gdLst/>
              <a:ahLst/>
              <a:cxnLst/>
              <a:rect r="r" b="b" t="t" l="l"/>
              <a:pathLst>
                <a:path h="863219" w="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sp>
        <p:nvSpPr>
          <p:cNvPr name="TextBox 23" id="23"/>
          <p:cNvSpPr txBox="true"/>
          <p:nvPr/>
        </p:nvSpPr>
        <p:spPr>
          <a:xfrm rot="0">
            <a:off x="4282754" y="5993530"/>
            <a:ext cx="467763" cy="527599"/>
          </a:xfrm>
          <a:prstGeom prst="rect">
            <a:avLst/>
          </a:prstGeom>
        </p:spPr>
        <p:txBody>
          <a:bodyPr anchor="t" rtlCol="false" tIns="0" lIns="0" bIns="0" rIns="0">
            <a:spAutoFit/>
          </a:bodyPr>
          <a:lstStyle/>
          <a:p>
            <a:pPr algn="ctr">
              <a:lnSpc>
                <a:spcPts val="3625"/>
              </a:lnSpc>
            </a:pPr>
            <a:r>
              <a:rPr lang="en-US" sz="3625" b="true">
                <a:solidFill>
                  <a:srgbClr val="272525"/>
                </a:solidFill>
                <a:latin typeface="Petrona Bold"/>
                <a:ea typeface="Petrona Bold"/>
                <a:cs typeface="Petrona Bold"/>
                <a:sym typeface="Petrona Bold"/>
              </a:rPr>
              <a:t>2</a:t>
            </a:r>
          </a:p>
        </p:txBody>
      </p:sp>
      <p:sp>
        <p:nvSpPr>
          <p:cNvPr name="TextBox 24" id="24"/>
          <p:cNvSpPr txBox="true"/>
          <p:nvPr/>
        </p:nvSpPr>
        <p:spPr>
          <a:xfrm rot="0">
            <a:off x="3126581" y="7343775"/>
            <a:ext cx="2780262" cy="506463"/>
          </a:xfrm>
          <a:prstGeom prst="rect">
            <a:avLst/>
          </a:prstGeom>
        </p:spPr>
        <p:txBody>
          <a:bodyPr anchor="t" rtlCol="false" tIns="0" lIns="0" bIns="0" rIns="0">
            <a:spAutoFit/>
          </a:bodyPr>
          <a:lstStyle/>
          <a:p>
            <a:pPr algn="ctr">
              <a:lnSpc>
                <a:spcPts val="3812"/>
              </a:lnSpc>
            </a:pPr>
            <a:r>
              <a:rPr lang="en-US" sz="3062" b="true">
                <a:solidFill>
                  <a:srgbClr val="272525"/>
                </a:solidFill>
                <a:latin typeface="Petrona Bold"/>
                <a:ea typeface="Petrona Bold"/>
                <a:cs typeface="Petrona Bold"/>
                <a:sym typeface="Petrona Bold"/>
              </a:rPr>
              <a:t>1972</a:t>
            </a:r>
          </a:p>
        </p:txBody>
      </p:sp>
      <p:sp>
        <p:nvSpPr>
          <p:cNvPr name="TextBox 25" id="25"/>
          <p:cNvSpPr txBox="true"/>
          <p:nvPr/>
        </p:nvSpPr>
        <p:spPr>
          <a:xfrm rot="0">
            <a:off x="3126581" y="7934620"/>
            <a:ext cx="2780262" cy="539353"/>
          </a:xfrm>
          <a:prstGeom prst="rect">
            <a:avLst/>
          </a:prstGeom>
        </p:spPr>
        <p:txBody>
          <a:bodyPr anchor="t" rtlCol="false" tIns="0" lIns="0" bIns="0" rIns="0">
            <a:spAutoFit/>
          </a:bodyPr>
          <a:lstStyle/>
          <a:p>
            <a:pPr algn="ctr">
              <a:lnSpc>
                <a:spcPts val="3562"/>
              </a:lnSpc>
            </a:pPr>
            <a:r>
              <a:rPr lang="en-US" sz="2187">
                <a:solidFill>
                  <a:srgbClr val="272525"/>
                </a:solidFill>
                <a:latin typeface="Inter"/>
                <a:ea typeface="Inter"/>
                <a:cs typeface="Inter"/>
                <a:sym typeface="Inter"/>
              </a:rPr>
              <a:t>Birth of C</a:t>
            </a:r>
          </a:p>
        </p:txBody>
      </p:sp>
      <p:grpSp>
        <p:nvGrpSpPr>
          <p:cNvPr name="Group 26" id="26"/>
          <p:cNvGrpSpPr/>
          <p:nvPr/>
        </p:nvGrpSpPr>
        <p:grpSpPr>
          <a:xfrm rot="0">
            <a:off x="6348565" y="5378206"/>
            <a:ext cx="38100" cy="850554"/>
            <a:chOff x="0" y="0"/>
            <a:chExt cx="50800" cy="1134072"/>
          </a:xfrm>
        </p:grpSpPr>
        <p:sp>
          <p:nvSpPr>
            <p:cNvPr name="Freeform 27" id="27"/>
            <p:cNvSpPr/>
            <p:nvPr/>
          </p:nvSpPr>
          <p:spPr>
            <a:xfrm flipH="false" flipV="false" rot="0">
              <a:off x="0" y="0"/>
              <a:ext cx="50800" cy="1134110"/>
            </a:xfrm>
            <a:custGeom>
              <a:avLst/>
              <a:gdLst/>
              <a:ahLst/>
              <a:cxnLst/>
              <a:rect r="r" b="b" t="t" l="l"/>
              <a:pathLst>
                <a:path h="1134110" w="50800">
                  <a:moveTo>
                    <a:pt x="0" y="25400"/>
                  </a:moveTo>
                  <a:cubicBezTo>
                    <a:pt x="0" y="11430"/>
                    <a:pt x="11430" y="0"/>
                    <a:pt x="25400" y="0"/>
                  </a:cubicBezTo>
                  <a:cubicBezTo>
                    <a:pt x="39370" y="0"/>
                    <a:pt x="50800" y="11430"/>
                    <a:pt x="50800" y="25400"/>
                  </a:cubicBezTo>
                  <a:lnTo>
                    <a:pt x="50800" y="1108710"/>
                  </a:lnTo>
                  <a:cubicBezTo>
                    <a:pt x="50800" y="1122680"/>
                    <a:pt x="39370" y="1134110"/>
                    <a:pt x="25400" y="1134110"/>
                  </a:cubicBezTo>
                  <a:cubicBezTo>
                    <a:pt x="11430" y="1134110"/>
                    <a:pt x="0" y="1122680"/>
                    <a:pt x="0" y="1108710"/>
                  </a:cubicBezTo>
                  <a:close/>
                </a:path>
              </a:pathLst>
            </a:custGeom>
            <a:solidFill>
              <a:srgbClr val="C6BDDA"/>
            </a:solidFill>
          </p:spPr>
        </p:sp>
      </p:grpSp>
      <p:grpSp>
        <p:nvGrpSpPr>
          <p:cNvPr name="Group 28" id="28"/>
          <p:cNvGrpSpPr/>
          <p:nvPr/>
        </p:nvGrpSpPr>
        <p:grpSpPr>
          <a:xfrm rot="0">
            <a:off x="6043908" y="5905052"/>
            <a:ext cx="647405" cy="647405"/>
            <a:chOff x="0" y="0"/>
            <a:chExt cx="863206" cy="863206"/>
          </a:xfrm>
        </p:grpSpPr>
        <p:sp>
          <p:nvSpPr>
            <p:cNvPr name="Freeform 29" id="29"/>
            <p:cNvSpPr/>
            <p:nvPr/>
          </p:nvSpPr>
          <p:spPr>
            <a:xfrm flipH="false" flipV="false" rot="0">
              <a:off x="6350" y="6350"/>
              <a:ext cx="850519" cy="850519"/>
            </a:xfrm>
            <a:custGeom>
              <a:avLst/>
              <a:gdLst/>
              <a:ahLst/>
              <a:cxnLst/>
              <a:rect r="r" b="b" t="t" l="l"/>
              <a:pathLst>
                <a:path h="850519" w="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name="Freeform 30" id="30"/>
            <p:cNvSpPr/>
            <p:nvPr/>
          </p:nvSpPr>
          <p:spPr>
            <a:xfrm flipH="false" flipV="false" rot="0">
              <a:off x="0" y="0"/>
              <a:ext cx="863219" cy="863219"/>
            </a:xfrm>
            <a:custGeom>
              <a:avLst/>
              <a:gdLst/>
              <a:ahLst/>
              <a:cxnLst/>
              <a:rect r="r" b="b" t="t" l="l"/>
              <a:pathLst>
                <a:path h="863219" w="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sp>
        <p:nvSpPr>
          <p:cNvPr name="TextBox 31" id="31"/>
          <p:cNvSpPr txBox="true"/>
          <p:nvPr/>
        </p:nvSpPr>
        <p:spPr>
          <a:xfrm rot="0">
            <a:off x="6133729" y="5993530"/>
            <a:ext cx="467763" cy="527599"/>
          </a:xfrm>
          <a:prstGeom prst="rect">
            <a:avLst/>
          </a:prstGeom>
        </p:spPr>
        <p:txBody>
          <a:bodyPr anchor="t" rtlCol="false" tIns="0" lIns="0" bIns="0" rIns="0">
            <a:spAutoFit/>
          </a:bodyPr>
          <a:lstStyle/>
          <a:p>
            <a:pPr algn="ctr">
              <a:lnSpc>
                <a:spcPts val="3625"/>
              </a:lnSpc>
            </a:pPr>
            <a:r>
              <a:rPr lang="en-US" sz="3625" b="true">
                <a:solidFill>
                  <a:srgbClr val="272525"/>
                </a:solidFill>
                <a:latin typeface="Petrona Bold"/>
                <a:ea typeface="Petrona Bold"/>
                <a:cs typeface="Petrona Bold"/>
                <a:sym typeface="Petrona Bold"/>
              </a:rPr>
              <a:t>3</a:t>
            </a:r>
          </a:p>
        </p:txBody>
      </p:sp>
      <p:sp>
        <p:nvSpPr>
          <p:cNvPr name="TextBox 32" id="32"/>
          <p:cNvSpPr txBox="true"/>
          <p:nvPr/>
        </p:nvSpPr>
        <p:spPr>
          <a:xfrm rot="0">
            <a:off x="4996463" y="3679179"/>
            <a:ext cx="2780405" cy="506463"/>
          </a:xfrm>
          <a:prstGeom prst="rect">
            <a:avLst/>
          </a:prstGeom>
        </p:spPr>
        <p:txBody>
          <a:bodyPr anchor="t" rtlCol="false" tIns="0" lIns="0" bIns="0" rIns="0">
            <a:spAutoFit/>
          </a:bodyPr>
          <a:lstStyle/>
          <a:p>
            <a:pPr algn="ctr">
              <a:lnSpc>
                <a:spcPts val="3812"/>
              </a:lnSpc>
            </a:pPr>
            <a:r>
              <a:rPr lang="en-US" sz="3062" b="true">
                <a:solidFill>
                  <a:srgbClr val="272525"/>
                </a:solidFill>
                <a:latin typeface="Petrona Bold"/>
                <a:ea typeface="Petrona Bold"/>
                <a:cs typeface="Petrona Bold"/>
                <a:sym typeface="Petrona Bold"/>
              </a:rPr>
              <a:t>1973 </a:t>
            </a:r>
          </a:p>
        </p:txBody>
      </p:sp>
      <p:sp>
        <p:nvSpPr>
          <p:cNvPr name="TextBox 33" id="33"/>
          <p:cNvSpPr txBox="true"/>
          <p:nvPr/>
        </p:nvSpPr>
        <p:spPr>
          <a:xfrm rot="0">
            <a:off x="4958363" y="4469385"/>
            <a:ext cx="2780405" cy="539353"/>
          </a:xfrm>
          <a:prstGeom prst="rect">
            <a:avLst/>
          </a:prstGeom>
        </p:spPr>
        <p:txBody>
          <a:bodyPr anchor="t" rtlCol="false" tIns="0" lIns="0" bIns="0" rIns="0">
            <a:spAutoFit/>
          </a:bodyPr>
          <a:lstStyle/>
          <a:p>
            <a:pPr algn="ctr">
              <a:lnSpc>
                <a:spcPts val="3562"/>
              </a:lnSpc>
            </a:pPr>
            <a:r>
              <a:rPr lang="en-US" sz="2187">
                <a:solidFill>
                  <a:srgbClr val="272525"/>
                </a:solidFill>
                <a:latin typeface="Inter"/>
                <a:ea typeface="Inter"/>
                <a:cs typeface="Inter"/>
                <a:sym typeface="Inter"/>
              </a:rPr>
              <a:t>Unix Milestone</a:t>
            </a:r>
          </a:p>
        </p:txBody>
      </p:sp>
      <p:grpSp>
        <p:nvGrpSpPr>
          <p:cNvPr name="Group 34" id="34"/>
          <p:cNvGrpSpPr/>
          <p:nvPr/>
        </p:nvGrpSpPr>
        <p:grpSpPr>
          <a:xfrm rot="0">
            <a:off x="8199387" y="6228759"/>
            <a:ext cx="38100" cy="850554"/>
            <a:chOff x="0" y="0"/>
            <a:chExt cx="50800" cy="1134072"/>
          </a:xfrm>
        </p:grpSpPr>
        <p:sp>
          <p:nvSpPr>
            <p:cNvPr name="Freeform 35" id="35"/>
            <p:cNvSpPr/>
            <p:nvPr/>
          </p:nvSpPr>
          <p:spPr>
            <a:xfrm flipH="false" flipV="false" rot="0">
              <a:off x="0" y="0"/>
              <a:ext cx="50800" cy="1134110"/>
            </a:xfrm>
            <a:custGeom>
              <a:avLst/>
              <a:gdLst/>
              <a:ahLst/>
              <a:cxnLst/>
              <a:rect r="r" b="b" t="t" l="l"/>
              <a:pathLst>
                <a:path h="1134110" w="50800">
                  <a:moveTo>
                    <a:pt x="0" y="25400"/>
                  </a:moveTo>
                  <a:cubicBezTo>
                    <a:pt x="0" y="11430"/>
                    <a:pt x="11430" y="0"/>
                    <a:pt x="25400" y="0"/>
                  </a:cubicBezTo>
                  <a:cubicBezTo>
                    <a:pt x="39370" y="0"/>
                    <a:pt x="50800" y="11430"/>
                    <a:pt x="50800" y="25400"/>
                  </a:cubicBezTo>
                  <a:lnTo>
                    <a:pt x="50800" y="1108710"/>
                  </a:lnTo>
                  <a:cubicBezTo>
                    <a:pt x="50800" y="1122680"/>
                    <a:pt x="39370" y="1134110"/>
                    <a:pt x="25400" y="1134110"/>
                  </a:cubicBezTo>
                  <a:cubicBezTo>
                    <a:pt x="11430" y="1134110"/>
                    <a:pt x="0" y="1122680"/>
                    <a:pt x="0" y="1108710"/>
                  </a:cubicBezTo>
                  <a:close/>
                </a:path>
              </a:pathLst>
            </a:custGeom>
            <a:solidFill>
              <a:srgbClr val="C6BDDA"/>
            </a:solidFill>
          </p:spPr>
        </p:sp>
      </p:grpSp>
      <p:grpSp>
        <p:nvGrpSpPr>
          <p:cNvPr name="Group 36" id="36"/>
          <p:cNvGrpSpPr/>
          <p:nvPr/>
        </p:nvGrpSpPr>
        <p:grpSpPr>
          <a:xfrm rot="0">
            <a:off x="7894739" y="5905052"/>
            <a:ext cx="647405" cy="647405"/>
            <a:chOff x="0" y="0"/>
            <a:chExt cx="863206" cy="863206"/>
          </a:xfrm>
        </p:grpSpPr>
        <p:sp>
          <p:nvSpPr>
            <p:cNvPr name="Freeform 37" id="37"/>
            <p:cNvSpPr/>
            <p:nvPr/>
          </p:nvSpPr>
          <p:spPr>
            <a:xfrm flipH="false" flipV="false" rot="0">
              <a:off x="6350" y="6350"/>
              <a:ext cx="850519" cy="850519"/>
            </a:xfrm>
            <a:custGeom>
              <a:avLst/>
              <a:gdLst/>
              <a:ahLst/>
              <a:cxnLst/>
              <a:rect r="r" b="b" t="t" l="l"/>
              <a:pathLst>
                <a:path h="850519" w="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name="Freeform 38" id="38"/>
            <p:cNvSpPr/>
            <p:nvPr/>
          </p:nvSpPr>
          <p:spPr>
            <a:xfrm flipH="false" flipV="false" rot="0">
              <a:off x="0" y="0"/>
              <a:ext cx="863219" cy="863219"/>
            </a:xfrm>
            <a:custGeom>
              <a:avLst/>
              <a:gdLst/>
              <a:ahLst/>
              <a:cxnLst/>
              <a:rect r="r" b="b" t="t" l="l"/>
              <a:pathLst>
                <a:path h="863219" w="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sp>
        <p:nvSpPr>
          <p:cNvPr name="TextBox 39" id="39"/>
          <p:cNvSpPr txBox="true"/>
          <p:nvPr/>
        </p:nvSpPr>
        <p:spPr>
          <a:xfrm rot="0">
            <a:off x="7984550" y="5993530"/>
            <a:ext cx="467763" cy="527599"/>
          </a:xfrm>
          <a:prstGeom prst="rect">
            <a:avLst/>
          </a:prstGeom>
        </p:spPr>
        <p:txBody>
          <a:bodyPr anchor="t" rtlCol="false" tIns="0" lIns="0" bIns="0" rIns="0">
            <a:spAutoFit/>
          </a:bodyPr>
          <a:lstStyle/>
          <a:p>
            <a:pPr algn="ctr">
              <a:lnSpc>
                <a:spcPts val="3625"/>
              </a:lnSpc>
            </a:pPr>
            <a:r>
              <a:rPr lang="en-US" sz="3625" b="true">
                <a:solidFill>
                  <a:srgbClr val="272525"/>
                </a:solidFill>
                <a:latin typeface="Petrona Bold"/>
                <a:ea typeface="Petrona Bold"/>
                <a:cs typeface="Petrona Bold"/>
                <a:sym typeface="Petrona Bold"/>
              </a:rPr>
              <a:t>4</a:t>
            </a:r>
          </a:p>
        </p:txBody>
      </p:sp>
      <p:sp>
        <p:nvSpPr>
          <p:cNvPr name="TextBox 40" id="40"/>
          <p:cNvSpPr txBox="true"/>
          <p:nvPr/>
        </p:nvSpPr>
        <p:spPr>
          <a:xfrm rot="0">
            <a:off x="6828234" y="7343775"/>
            <a:ext cx="2780405" cy="506463"/>
          </a:xfrm>
          <a:prstGeom prst="rect">
            <a:avLst/>
          </a:prstGeom>
        </p:spPr>
        <p:txBody>
          <a:bodyPr anchor="t" rtlCol="false" tIns="0" lIns="0" bIns="0" rIns="0">
            <a:spAutoFit/>
          </a:bodyPr>
          <a:lstStyle/>
          <a:p>
            <a:pPr algn="ctr">
              <a:lnSpc>
                <a:spcPts val="3812"/>
              </a:lnSpc>
            </a:pPr>
            <a:r>
              <a:rPr lang="en-US" sz="3062" b="true">
                <a:solidFill>
                  <a:srgbClr val="272525"/>
                </a:solidFill>
                <a:latin typeface="Petrona Bold"/>
                <a:ea typeface="Petrona Bold"/>
                <a:cs typeface="Petrona Bold"/>
                <a:sym typeface="Petrona Bold"/>
              </a:rPr>
              <a:t>1983</a:t>
            </a:r>
          </a:p>
        </p:txBody>
      </p:sp>
      <p:sp>
        <p:nvSpPr>
          <p:cNvPr name="TextBox 41" id="41"/>
          <p:cNvSpPr txBox="true"/>
          <p:nvPr/>
        </p:nvSpPr>
        <p:spPr>
          <a:xfrm rot="0">
            <a:off x="6828234" y="7934620"/>
            <a:ext cx="2780405" cy="539353"/>
          </a:xfrm>
          <a:prstGeom prst="rect">
            <a:avLst/>
          </a:prstGeom>
        </p:spPr>
        <p:txBody>
          <a:bodyPr anchor="t" rtlCol="false" tIns="0" lIns="0" bIns="0" rIns="0">
            <a:spAutoFit/>
          </a:bodyPr>
          <a:lstStyle/>
          <a:p>
            <a:pPr algn="ctr">
              <a:lnSpc>
                <a:spcPts val="3562"/>
              </a:lnSpc>
            </a:pPr>
            <a:r>
              <a:rPr lang="en-US" sz="2187">
                <a:solidFill>
                  <a:srgbClr val="272525"/>
                </a:solidFill>
                <a:latin typeface="Inter"/>
                <a:ea typeface="Inter"/>
                <a:cs typeface="Inter"/>
                <a:sym typeface="Inter"/>
              </a:rPr>
              <a:t>C++ Emergence</a:t>
            </a:r>
          </a:p>
        </p:txBody>
      </p:sp>
      <p:grpSp>
        <p:nvGrpSpPr>
          <p:cNvPr name="Group 42" id="42"/>
          <p:cNvGrpSpPr/>
          <p:nvPr/>
        </p:nvGrpSpPr>
        <p:grpSpPr>
          <a:xfrm rot="0">
            <a:off x="10050218" y="5378206"/>
            <a:ext cx="38100" cy="850554"/>
            <a:chOff x="0" y="0"/>
            <a:chExt cx="50800" cy="1134072"/>
          </a:xfrm>
        </p:grpSpPr>
        <p:sp>
          <p:nvSpPr>
            <p:cNvPr name="Freeform 43" id="43"/>
            <p:cNvSpPr/>
            <p:nvPr/>
          </p:nvSpPr>
          <p:spPr>
            <a:xfrm flipH="false" flipV="false" rot="0">
              <a:off x="0" y="0"/>
              <a:ext cx="50800" cy="1134110"/>
            </a:xfrm>
            <a:custGeom>
              <a:avLst/>
              <a:gdLst/>
              <a:ahLst/>
              <a:cxnLst/>
              <a:rect r="r" b="b" t="t" l="l"/>
              <a:pathLst>
                <a:path h="1134110" w="50800">
                  <a:moveTo>
                    <a:pt x="0" y="25400"/>
                  </a:moveTo>
                  <a:cubicBezTo>
                    <a:pt x="0" y="11430"/>
                    <a:pt x="11430" y="0"/>
                    <a:pt x="25400" y="0"/>
                  </a:cubicBezTo>
                  <a:cubicBezTo>
                    <a:pt x="39370" y="0"/>
                    <a:pt x="50800" y="11430"/>
                    <a:pt x="50800" y="25400"/>
                  </a:cubicBezTo>
                  <a:lnTo>
                    <a:pt x="50800" y="1108710"/>
                  </a:lnTo>
                  <a:cubicBezTo>
                    <a:pt x="50800" y="1122680"/>
                    <a:pt x="39370" y="1134110"/>
                    <a:pt x="25400" y="1134110"/>
                  </a:cubicBezTo>
                  <a:cubicBezTo>
                    <a:pt x="11430" y="1134110"/>
                    <a:pt x="0" y="1122680"/>
                    <a:pt x="0" y="1108710"/>
                  </a:cubicBezTo>
                  <a:close/>
                </a:path>
              </a:pathLst>
            </a:custGeom>
            <a:solidFill>
              <a:srgbClr val="C6BDDA"/>
            </a:solidFill>
          </p:spPr>
        </p:sp>
      </p:grpSp>
      <p:grpSp>
        <p:nvGrpSpPr>
          <p:cNvPr name="Group 44" id="44"/>
          <p:cNvGrpSpPr/>
          <p:nvPr/>
        </p:nvGrpSpPr>
        <p:grpSpPr>
          <a:xfrm rot="0">
            <a:off x="9745561" y="5905052"/>
            <a:ext cx="647405" cy="647405"/>
            <a:chOff x="0" y="0"/>
            <a:chExt cx="863206" cy="863206"/>
          </a:xfrm>
        </p:grpSpPr>
        <p:sp>
          <p:nvSpPr>
            <p:cNvPr name="Freeform 45" id="45"/>
            <p:cNvSpPr/>
            <p:nvPr/>
          </p:nvSpPr>
          <p:spPr>
            <a:xfrm flipH="false" flipV="false" rot="0">
              <a:off x="6350" y="6350"/>
              <a:ext cx="850519" cy="850519"/>
            </a:xfrm>
            <a:custGeom>
              <a:avLst/>
              <a:gdLst/>
              <a:ahLst/>
              <a:cxnLst/>
              <a:rect r="r" b="b" t="t" l="l"/>
              <a:pathLst>
                <a:path h="850519" w="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name="Freeform 46" id="46"/>
            <p:cNvSpPr/>
            <p:nvPr/>
          </p:nvSpPr>
          <p:spPr>
            <a:xfrm flipH="false" flipV="false" rot="0">
              <a:off x="0" y="0"/>
              <a:ext cx="863219" cy="863219"/>
            </a:xfrm>
            <a:custGeom>
              <a:avLst/>
              <a:gdLst/>
              <a:ahLst/>
              <a:cxnLst/>
              <a:rect r="r" b="b" t="t" l="l"/>
              <a:pathLst>
                <a:path h="863219" w="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sp>
        <p:nvSpPr>
          <p:cNvPr name="TextBox 47" id="47"/>
          <p:cNvSpPr txBox="true"/>
          <p:nvPr/>
        </p:nvSpPr>
        <p:spPr>
          <a:xfrm rot="0">
            <a:off x="9835382" y="5993530"/>
            <a:ext cx="467763" cy="527599"/>
          </a:xfrm>
          <a:prstGeom prst="rect">
            <a:avLst/>
          </a:prstGeom>
        </p:spPr>
        <p:txBody>
          <a:bodyPr anchor="t" rtlCol="false" tIns="0" lIns="0" bIns="0" rIns="0">
            <a:spAutoFit/>
          </a:bodyPr>
          <a:lstStyle/>
          <a:p>
            <a:pPr algn="ctr">
              <a:lnSpc>
                <a:spcPts val="3625"/>
              </a:lnSpc>
            </a:pPr>
            <a:r>
              <a:rPr lang="en-US" sz="3625" b="true">
                <a:solidFill>
                  <a:srgbClr val="272525"/>
                </a:solidFill>
                <a:latin typeface="Petrona Bold"/>
                <a:ea typeface="Petrona Bold"/>
                <a:cs typeface="Petrona Bold"/>
                <a:sym typeface="Petrona Bold"/>
              </a:rPr>
              <a:t>5</a:t>
            </a:r>
          </a:p>
        </p:txBody>
      </p:sp>
      <p:sp>
        <p:nvSpPr>
          <p:cNvPr name="TextBox 48" id="48"/>
          <p:cNvSpPr txBox="true"/>
          <p:nvPr/>
        </p:nvSpPr>
        <p:spPr>
          <a:xfrm rot="0">
            <a:off x="8816273" y="3679179"/>
            <a:ext cx="2780262" cy="506463"/>
          </a:xfrm>
          <a:prstGeom prst="rect">
            <a:avLst/>
          </a:prstGeom>
        </p:spPr>
        <p:txBody>
          <a:bodyPr anchor="t" rtlCol="false" tIns="0" lIns="0" bIns="0" rIns="0">
            <a:spAutoFit/>
          </a:bodyPr>
          <a:lstStyle/>
          <a:p>
            <a:pPr algn="ctr">
              <a:lnSpc>
                <a:spcPts val="3812"/>
              </a:lnSpc>
            </a:pPr>
            <a:r>
              <a:rPr lang="en-US" sz="3062" b="true">
                <a:solidFill>
                  <a:srgbClr val="272525"/>
                </a:solidFill>
                <a:latin typeface="Petrona Bold"/>
                <a:ea typeface="Petrona Bold"/>
                <a:cs typeface="Petrona Bold"/>
                <a:sym typeface="Petrona Bold"/>
              </a:rPr>
              <a:t>1989</a:t>
            </a:r>
          </a:p>
        </p:txBody>
      </p:sp>
      <p:sp>
        <p:nvSpPr>
          <p:cNvPr name="TextBox 49" id="49"/>
          <p:cNvSpPr txBox="true"/>
          <p:nvPr/>
        </p:nvSpPr>
        <p:spPr>
          <a:xfrm rot="0">
            <a:off x="8669684" y="4469385"/>
            <a:ext cx="2780262" cy="539353"/>
          </a:xfrm>
          <a:prstGeom prst="rect">
            <a:avLst/>
          </a:prstGeom>
        </p:spPr>
        <p:txBody>
          <a:bodyPr anchor="t" rtlCol="false" tIns="0" lIns="0" bIns="0" rIns="0">
            <a:spAutoFit/>
          </a:bodyPr>
          <a:lstStyle/>
          <a:p>
            <a:pPr algn="ctr">
              <a:lnSpc>
                <a:spcPts val="3562"/>
              </a:lnSpc>
            </a:pPr>
            <a:r>
              <a:rPr lang="en-US" sz="2187">
                <a:solidFill>
                  <a:srgbClr val="272525"/>
                </a:solidFill>
                <a:latin typeface="Inter"/>
                <a:ea typeface="Inter"/>
                <a:cs typeface="Inter"/>
                <a:sym typeface="Inter"/>
              </a:rPr>
              <a:t>ANSI C (C89)</a:t>
            </a:r>
          </a:p>
        </p:txBody>
      </p:sp>
      <p:grpSp>
        <p:nvGrpSpPr>
          <p:cNvPr name="Group 50" id="50"/>
          <p:cNvGrpSpPr/>
          <p:nvPr/>
        </p:nvGrpSpPr>
        <p:grpSpPr>
          <a:xfrm rot="0">
            <a:off x="11901192" y="6228759"/>
            <a:ext cx="38100" cy="850554"/>
            <a:chOff x="0" y="0"/>
            <a:chExt cx="50800" cy="1134072"/>
          </a:xfrm>
        </p:grpSpPr>
        <p:sp>
          <p:nvSpPr>
            <p:cNvPr name="Freeform 51" id="51"/>
            <p:cNvSpPr/>
            <p:nvPr/>
          </p:nvSpPr>
          <p:spPr>
            <a:xfrm flipH="false" flipV="false" rot="0">
              <a:off x="0" y="0"/>
              <a:ext cx="50800" cy="1134110"/>
            </a:xfrm>
            <a:custGeom>
              <a:avLst/>
              <a:gdLst/>
              <a:ahLst/>
              <a:cxnLst/>
              <a:rect r="r" b="b" t="t" l="l"/>
              <a:pathLst>
                <a:path h="1134110" w="50800">
                  <a:moveTo>
                    <a:pt x="0" y="25400"/>
                  </a:moveTo>
                  <a:cubicBezTo>
                    <a:pt x="0" y="11430"/>
                    <a:pt x="11430" y="0"/>
                    <a:pt x="25400" y="0"/>
                  </a:cubicBezTo>
                  <a:cubicBezTo>
                    <a:pt x="39370" y="0"/>
                    <a:pt x="50800" y="11430"/>
                    <a:pt x="50800" y="25400"/>
                  </a:cubicBezTo>
                  <a:lnTo>
                    <a:pt x="50800" y="1108710"/>
                  </a:lnTo>
                  <a:cubicBezTo>
                    <a:pt x="50800" y="1122680"/>
                    <a:pt x="39370" y="1134110"/>
                    <a:pt x="25400" y="1134110"/>
                  </a:cubicBezTo>
                  <a:cubicBezTo>
                    <a:pt x="11430" y="1134110"/>
                    <a:pt x="0" y="1122680"/>
                    <a:pt x="0" y="1108710"/>
                  </a:cubicBezTo>
                  <a:close/>
                </a:path>
              </a:pathLst>
            </a:custGeom>
            <a:solidFill>
              <a:srgbClr val="C6BDDA"/>
            </a:solidFill>
          </p:spPr>
        </p:sp>
      </p:grpSp>
      <p:grpSp>
        <p:nvGrpSpPr>
          <p:cNvPr name="Group 52" id="52"/>
          <p:cNvGrpSpPr/>
          <p:nvPr/>
        </p:nvGrpSpPr>
        <p:grpSpPr>
          <a:xfrm rot="0">
            <a:off x="11596535" y="5905052"/>
            <a:ext cx="647405" cy="647405"/>
            <a:chOff x="0" y="0"/>
            <a:chExt cx="863206" cy="863206"/>
          </a:xfrm>
        </p:grpSpPr>
        <p:sp>
          <p:nvSpPr>
            <p:cNvPr name="Freeform 53" id="53"/>
            <p:cNvSpPr/>
            <p:nvPr/>
          </p:nvSpPr>
          <p:spPr>
            <a:xfrm flipH="false" flipV="false" rot="0">
              <a:off x="6350" y="6350"/>
              <a:ext cx="850519" cy="850519"/>
            </a:xfrm>
            <a:custGeom>
              <a:avLst/>
              <a:gdLst/>
              <a:ahLst/>
              <a:cxnLst/>
              <a:rect r="r" b="b" t="t" l="l"/>
              <a:pathLst>
                <a:path h="850519" w="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name="Freeform 54" id="54"/>
            <p:cNvSpPr/>
            <p:nvPr/>
          </p:nvSpPr>
          <p:spPr>
            <a:xfrm flipH="false" flipV="false" rot="0">
              <a:off x="0" y="0"/>
              <a:ext cx="863219" cy="863219"/>
            </a:xfrm>
            <a:custGeom>
              <a:avLst/>
              <a:gdLst/>
              <a:ahLst/>
              <a:cxnLst/>
              <a:rect r="r" b="b" t="t" l="l"/>
              <a:pathLst>
                <a:path h="863219" w="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sp>
        <p:nvSpPr>
          <p:cNvPr name="TextBox 55" id="55"/>
          <p:cNvSpPr txBox="true"/>
          <p:nvPr/>
        </p:nvSpPr>
        <p:spPr>
          <a:xfrm rot="0">
            <a:off x="11686356" y="5993530"/>
            <a:ext cx="467763" cy="527599"/>
          </a:xfrm>
          <a:prstGeom prst="rect">
            <a:avLst/>
          </a:prstGeom>
        </p:spPr>
        <p:txBody>
          <a:bodyPr anchor="t" rtlCol="false" tIns="0" lIns="0" bIns="0" rIns="0">
            <a:spAutoFit/>
          </a:bodyPr>
          <a:lstStyle/>
          <a:p>
            <a:pPr algn="ctr">
              <a:lnSpc>
                <a:spcPts val="3625"/>
              </a:lnSpc>
            </a:pPr>
            <a:r>
              <a:rPr lang="en-US" sz="3625" b="true">
                <a:solidFill>
                  <a:srgbClr val="272525"/>
                </a:solidFill>
                <a:latin typeface="Petrona Bold"/>
                <a:ea typeface="Petrona Bold"/>
                <a:cs typeface="Petrona Bold"/>
                <a:sym typeface="Petrona Bold"/>
              </a:rPr>
              <a:t>6</a:t>
            </a:r>
          </a:p>
        </p:txBody>
      </p:sp>
      <p:sp>
        <p:nvSpPr>
          <p:cNvPr name="TextBox 56" id="56"/>
          <p:cNvSpPr txBox="true"/>
          <p:nvPr/>
        </p:nvSpPr>
        <p:spPr>
          <a:xfrm rot="0">
            <a:off x="10530040" y="7343775"/>
            <a:ext cx="2780405" cy="506463"/>
          </a:xfrm>
          <a:prstGeom prst="rect">
            <a:avLst/>
          </a:prstGeom>
        </p:spPr>
        <p:txBody>
          <a:bodyPr anchor="t" rtlCol="false" tIns="0" lIns="0" bIns="0" rIns="0">
            <a:spAutoFit/>
          </a:bodyPr>
          <a:lstStyle/>
          <a:p>
            <a:pPr algn="ctr">
              <a:lnSpc>
                <a:spcPts val="3812"/>
              </a:lnSpc>
            </a:pPr>
            <a:r>
              <a:rPr lang="en-US" sz="3062" b="true">
                <a:solidFill>
                  <a:srgbClr val="272525"/>
                </a:solidFill>
                <a:latin typeface="Petrona Bold"/>
                <a:ea typeface="Petrona Bold"/>
                <a:cs typeface="Petrona Bold"/>
                <a:sym typeface="Petrona Bold"/>
              </a:rPr>
              <a:t>1999</a:t>
            </a:r>
          </a:p>
        </p:txBody>
      </p:sp>
      <p:sp>
        <p:nvSpPr>
          <p:cNvPr name="TextBox 57" id="57"/>
          <p:cNvSpPr txBox="true"/>
          <p:nvPr/>
        </p:nvSpPr>
        <p:spPr>
          <a:xfrm rot="0">
            <a:off x="10530040" y="7934620"/>
            <a:ext cx="2780405" cy="539353"/>
          </a:xfrm>
          <a:prstGeom prst="rect">
            <a:avLst/>
          </a:prstGeom>
        </p:spPr>
        <p:txBody>
          <a:bodyPr anchor="t" rtlCol="false" tIns="0" lIns="0" bIns="0" rIns="0">
            <a:spAutoFit/>
          </a:bodyPr>
          <a:lstStyle/>
          <a:p>
            <a:pPr algn="ctr">
              <a:lnSpc>
                <a:spcPts val="3562"/>
              </a:lnSpc>
            </a:pPr>
            <a:r>
              <a:rPr lang="en-US" sz="2187">
                <a:solidFill>
                  <a:srgbClr val="272525"/>
                </a:solidFill>
                <a:latin typeface="Inter"/>
                <a:ea typeface="Inter"/>
                <a:cs typeface="Inter"/>
                <a:sym typeface="Inter"/>
              </a:rPr>
              <a:t>C99 Standard</a:t>
            </a:r>
          </a:p>
        </p:txBody>
      </p:sp>
      <p:grpSp>
        <p:nvGrpSpPr>
          <p:cNvPr name="Group 58" id="58"/>
          <p:cNvGrpSpPr/>
          <p:nvPr/>
        </p:nvGrpSpPr>
        <p:grpSpPr>
          <a:xfrm rot="0">
            <a:off x="13752014" y="5378206"/>
            <a:ext cx="38100" cy="850554"/>
            <a:chOff x="0" y="0"/>
            <a:chExt cx="50800" cy="1134072"/>
          </a:xfrm>
        </p:grpSpPr>
        <p:sp>
          <p:nvSpPr>
            <p:cNvPr name="Freeform 59" id="59"/>
            <p:cNvSpPr/>
            <p:nvPr/>
          </p:nvSpPr>
          <p:spPr>
            <a:xfrm flipH="false" flipV="false" rot="0">
              <a:off x="0" y="0"/>
              <a:ext cx="50800" cy="1134110"/>
            </a:xfrm>
            <a:custGeom>
              <a:avLst/>
              <a:gdLst/>
              <a:ahLst/>
              <a:cxnLst/>
              <a:rect r="r" b="b" t="t" l="l"/>
              <a:pathLst>
                <a:path h="1134110" w="50800">
                  <a:moveTo>
                    <a:pt x="0" y="25400"/>
                  </a:moveTo>
                  <a:cubicBezTo>
                    <a:pt x="0" y="11430"/>
                    <a:pt x="11430" y="0"/>
                    <a:pt x="25400" y="0"/>
                  </a:cubicBezTo>
                  <a:cubicBezTo>
                    <a:pt x="39370" y="0"/>
                    <a:pt x="50800" y="11430"/>
                    <a:pt x="50800" y="25400"/>
                  </a:cubicBezTo>
                  <a:lnTo>
                    <a:pt x="50800" y="1108710"/>
                  </a:lnTo>
                  <a:cubicBezTo>
                    <a:pt x="50800" y="1122680"/>
                    <a:pt x="39370" y="1134110"/>
                    <a:pt x="25400" y="1134110"/>
                  </a:cubicBezTo>
                  <a:cubicBezTo>
                    <a:pt x="11430" y="1134110"/>
                    <a:pt x="0" y="1122680"/>
                    <a:pt x="0" y="1108710"/>
                  </a:cubicBezTo>
                  <a:close/>
                </a:path>
              </a:pathLst>
            </a:custGeom>
            <a:solidFill>
              <a:srgbClr val="C6BDDA"/>
            </a:solidFill>
          </p:spPr>
        </p:sp>
      </p:grpSp>
      <p:grpSp>
        <p:nvGrpSpPr>
          <p:cNvPr name="Group 60" id="60"/>
          <p:cNvGrpSpPr/>
          <p:nvPr/>
        </p:nvGrpSpPr>
        <p:grpSpPr>
          <a:xfrm rot="0">
            <a:off x="13447366" y="5905052"/>
            <a:ext cx="647405" cy="647405"/>
            <a:chOff x="0" y="0"/>
            <a:chExt cx="863206" cy="863206"/>
          </a:xfrm>
        </p:grpSpPr>
        <p:sp>
          <p:nvSpPr>
            <p:cNvPr name="Freeform 61" id="61"/>
            <p:cNvSpPr/>
            <p:nvPr/>
          </p:nvSpPr>
          <p:spPr>
            <a:xfrm flipH="false" flipV="false" rot="0">
              <a:off x="6350" y="6350"/>
              <a:ext cx="850519" cy="850519"/>
            </a:xfrm>
            <a:custGeom>
              <a:avLst/>
              <a:gdLst/>
              <a:ahLst/>
              <a:cxnLst/>
              <a:rect r="r" b="b" t="t" l="l"/>
              <a:pathLst>
                <a:path h="850519" w="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name="Freeform 62" id="62"/>
            <p:cNvSpPr/>
            <p:nvPr/>
          </p:nvSpPr>
          <p:spPr>
            <a:xfrm flipH="false" flipV="false" rot="0">
              <a:off x="0" y="0"/>
              <a:ext cx="863219" cy="863219"/>
            </a:xfrm>
            <a:custGeom>
              <a:avLst/>
              <a:gdLst/>
              <a:ahLst/>
              <a:cxnLst/>
              <a:rect r="r" b="b" t="t" l="l"/>
              <a:pathLst>
                <a:path h="863219" w="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sp>
        <p:nvSpPr>
          <p:cNvPr name="TextBox 63" id="63"/>
          <p:cNvSpPr txBox="true"/>
          <p:nvPr/>
        </p:nvSpPr>
        <p:spPr>
          <a:xfrm rot="0">
            <a:off x="13537187" y="5993530"/>
            <a:ext cx="467763" cy="527599"/>
          </a:xfrm>
          <a:prstGeom prst="rect">
            <a:avLst/>
          </a:prstGeom>
        </p:spPr>
        <p:txBody>
          <a:bodyPr anchor="t" rtlCol="false" tIns="0" lIns="0" bIns="0" rIns="0">
            <a:spAutoFit/>
          </a:bodyPr>
          <a:lstStyle/>
          <a:p>
            <a:pPr algn="ctr">
              <a:lnSpc>
                <a:spcPts val="3625"/>
              </a:lnSpc>
            </a:pPr>
            <a:r>
              <a:rPr lang="en-US" sz="3625" b="true">
                <a:solidFill>
                  <a:srgbClr val="272525"/>
                </a:solidFill>
                <a:latin typeface="Petrona Bold"/>
                <a:ea typeface="Petrona Bold"/>
                <a:cs typeface="Petrona Bold"/>
                <a:sym typeface="Petrona Bold"/>
              </a:rPr>
              <a:t>7</a:t>
            </a:r>
          </a:p>
        </p:txBody>
      </p:sp>
      <p:sp>
        <p:nvSpPr>
          <p:cNvPr name="TextBox 64" id="64"/>
          <p:cNvSpPr txBox="true"/>
          <p:nvPr/>
        </p:nvSpPr>
        <p:spPr>
          <a:xfrm rot="0">
            <a:off x="12361812" y="3679179"/>
            <a:ext cx="2780405" cy="506463"/>
          </a:xfrm>
          <a:prstGeom prst="rect">
            <a:avLst/>
          </a:prstGeom>
        </p:spPr>
        <p:txBody>
          <a:bodyPr anchor="t" rtlCol="false" tIns="0" lIns="0" bIns="0" rIns="0">
            <a:spAutoFit/>
          </a:bodyPr>
          <a:lstStyle/>
          <a:p>
            <a:pPr algn="ctr">
              <a:lnSpc>
                <a:spcPts val="3812"/>
              </a:lnSpc>
            </a:pPr>
            <a:r>
              <a:rPr lang="en-US" sz="3062" b="true">
                <a:solidFill>
                  <a:srgbClr val="272525"/>
                </a:solidFill>
                <a:latin typeface="Petrona Bold"/>
                <a:ea typeface="Petrona Bold"/>
                <a:cs typeface="Petrona Bold"/>
                <a:sym typeface="Petrona Bold"/>
              </a:rPr>
              <a:t>2011-2018</a:t>
            </a:r>
          </a:p>
        </p:txBody>
      </p:sp>
      <p:sp>
        <p:nvSpPr>
          <p:cNvPr name="TextBox 65" id="65"/>
          <p:cNvSpPr txBox="true"/>
          <p:nvPr/>
        </p:nvSpPr>
        <p:spPr>
          <a:xfrm rot="0">
            <a:off x="12380862" y="4271367"/>
            <a:ext cx="2780405" cy="539353"/>
          </a:xfrm>
          <a:prstGeom prst="rect">
            <a:avLst/>
          </a:prstGeom>
        </p:spPr>
        <p:txBody>
          <a:bodyPr anchor="t" rtlCol="false" tIns="0" lIns="0" bIns="0" rIns="0">
            <a:spAutoFit/>
          </a:bodyPr>
          <a:lstStyle/>
          <a:p>
            <a:pPr algn="ctr">
              <a:lnSpc>
                <a:spcPts val="3562"/>
              </a:lnSpc>
            </a:pPr>
            <a:r>
              <a:rPr lang="en-US" sz="2187">
                <a:solidFill>
                  <a:srgbClr val="272525"/>
                </a:solidFill>
                <a:latin typeface="Inter"/>
                <a:ea typeface="Inter"/>
                <a:cs typeface="Inter"/>
                <a:sym typeface="Inter"/>
              </a:rPr>
              <a:t>Modern Standards</a:t>
            </a:r>
          </a:p>
        </p:txBody>
      </p:sp>
      <p:sp>
        <p:nvSpPr>
          <p:cNvPr name="TextBox 66" id="66"/>
          <p:cNvSpPr txBox="true"/>
          <p:nvPr/>
        </p:nvSpPr>
        <p:spPr>
          <a:xfrm rot="0">
            <a:off x="12399912" y="4782145"/>
            <a:ext cx="2780405" cy="539353"/>
          </a:xfrm>
          <a:prstGeom prst="rect">
            <a:avLst/>
          </a:prstGeom>
        </p:spPr>
        <p:txBody>
          <a:bodyPr anchor="t" rtlCol="false" tIns="0" lIns="0" bIns="0" rIns="0">
            <a:spAutoFit/>
          </a:bodyPr>
          <a:lstStyle/>
          <a:p>
            <a:pPr algn="ctr">
              <a:lnSpc>
                <a:spcPts val="3562"/>
              </a:lnSpc>
            </a:pPr>
            <a:r>
              <a:rPr lang="en-US" sz="2187">
                <a:solidFill>
                  <a:srgbClr val="272525"/>
                </a:solidFill>
                <a:latin typeface="Inter"/>
                <a:ea typeface="Inter"/>
                <a:cs typeface="Inter"/>
                <a:sym typeface="Inter"/>
              </a:rPr>
              <a:t>(C11 and C18)</a:t>
            </a:r>
          </a:p>
        </p:txBody>
      </p:sp>
      <p:grpSp>
        <p:nvGrpSpPr>
          <p:cNvPr name="Group 67" id="67"/>
          <p:cNvGrpSpPr/>
          <p:nvPr/>
        </p:nvGrpSpPr>
        <p:grpSpPr>
          <a:xfrm rot="0">
            <a:off x="15602845" y="6228759"/>
            <a:ext cx="38100" cy="850554"/>
            <a:chOff x="0" y="0"/>
            <a:chExt cx="50800" cy="1134072"/>
          </a:xfrm>
        </p:grpSpPr>
        <p:sp>
          <p:nvSpPr>
            <p:cNvPr name="Freeform 68" id="68"/>
            <p:cNvSpPr/>
            <p:nvPr/>
          </p:nvSpPr>
          <p:spPr>
            <a:xfrm flipH="false" flipV="false" rot="0">
              <a:off x="0" y="0"/>
              <a:ext cx="50800" cy="1134110"/>
            </a:xfrm>
            <a:custGeom>
              <a:avLst/>
              <a:gdLst/>
              <a:ahLst/>
              <a:cxnLst/>
              <a:rect r="r" b="b" t="t" l="l"/>
              <a:pathLst>
                <a:path h="1134110" w="50800">
                  <a:moveTo>
                    <a:pt x="0" y="25400"/>
                  </a:moveTo>
                  <a:cubicBezTo>
                    <a:pt x="0" y="11430"/>
                    <a:pt x="11430" y="0"/>
                    <a:pt x="25400" y="0"/>
                  </a:cubicBezTo>
                  <a:cubicBezTo>
                    <a:pt x="39370" y="0"/>
                    <a:pt x="50800" y="11430"/>
                    <a:pt x="50800" y="25400"/>
                  </a:cubicBezTo>
                  <a:lnTo>
                    <a:pt x="50800" y="1108710"/>
                  </a:lnTo>
                  <a:cubicBezTo>
                    <a:pt x="50800" y="1122680"/>
                    <a:pt x="39370" y="1134110"/>
                    <a:pt x="25400" y="1134110"/>
                  </a:cubicBezTo>
                  <a:cubicBezTo>
                    <a:pt x="11430" y="1134110"/>
                    <a:pt x="0" y="1122680"/>
                    <a:pt x="0" y="1108710"/>
                  </a:cubicBezTo>
                  <a:close/>
                </a:path>
              </a:pathLst>
            </a:custGeom>
            <a:solidFill>
              <a:srgbClr val="C6BDDA"/>
            </a:solidFill>
          </p:spPr>
        </p:sp>
      </p:grpSp>
      <p:grpSp>
        <p:nvGrpSpPr>
          <p:cNvPr name="Group 69" id="69"/>
          <p:cNvGrpSpPr/>
          <p:nvPr/>
        </p:nvGrpSpPr>
        <p:grpSpPr>
          <a:xfrm rot="0">
            <a:off x="15298188" y="5905052"/>
            <a:ext cx="647405" cy="647405"/>
            <a:chOff x="0" y="0"/>
            <a:chExt cx="863206" cy="863206"/>
          </a:xfrm>
        </p:grpSpPr>
        <p:sp>
          <p:nvSpPr>
            <p:cNvPr name="Freeform 70" id="70"/>
            <p:cNvSpPr/>
            <p:nvPr/>
          </p:nvSpPr>
          <p:spPr>
            <a:xfrm flipH="false" flipV="false" rot="0">
              <a:off x="6350" y="6350"/>
              <a:ext cx="850519" cy="850519"/>
            </a:xfrm>
            <a:custGeom>
              <a:avLst/>
              <a:gdLst/>
              <a:ahLst/>
              <a:cxnLst/>
              <a:rect r="r" b="b" t="t" l="l"/>
              <a:pathLst>
                <a:path h="850519" w="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0D7F4"/>
            </a:solidFill>
          </p:spPr>
        </p:sp>
        <p:sp>
          <p:nvSpPr>
            <p:cNvPr name="Freeform 71" id="71"/>
            <p:cNvSpPr/>
            <p:nvPr/>
          </p:nvSpPr>
          <p:spPr>
            <a:xfrm flipH="false" flipV="false" rot="0">
              <a:off x="0" y="0"/>
              <a:ext cx="863219" cy="863219"/>
            </a:xfrm>
            <a:custGeom>
              <a:avLst/>
              <a:gdLst/>
              <a:ahLst/>
              <a:cxnLst/>
              <a:rect r="r" b="b" t="t" l="l"/>
              <a:pathLst>
                <a:path h="863219" w="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sp>
        <p:nvSpPr>
          <p:cNvPr name="TextBox 72" id="72"/>
          <p:cNvSpPr txBox="true"/>
          <p:nvPr/>
        </p:nvSpPr>
        <p:spPr>
          <a:xfrm rot="0">
            <a:off x="15388009" y="5993530"/>
            <a:ext cx="467763" cy="527599"/>
          </a:xfrm>
          <a:prstGeom prst="rect">
            <a:avLst/>
          </a:prstGeom>
        </p:spPr>
        <p:txBody>
          <a:bodyPr anchor="t" rtlCol="false" tIns="0" lIns="0" bIns="0" rIns="0">
            <a:spAutoFit/>
          </a:bodyPr>
          <a:lstStyle/>
          <a:p>
            <a:pPr algn="ctr">
              <a:lnSpc>
                <a:spcPts val="3625"/>
              </a:lnSpc>
            </a:pPr>
            <a:r>
              <a:rPr lang="en-US" sz="3625" b="true">
                <a:solidFill>
                  <a:srgbClr val="272525"/>
                </a:solidFill>
                <a:latin typeface="Petrona Bold"/>
                <a:ea typeface="Petrona Bold"/>
                <a:cs typeface="Petrona Bold"/>
                <a:sym typeface="Petrona Bold"/>
              </a:rPr>
              <a:t>8</a:t>
            </a:r>
          </a:p>
        </p:txBody>
      </p:sp>
      <p:sp>
        <p:nvSpPr>
          <p:cNvPr name="TextBox 73" id="73"/>
          <p:cNvSpPr txBox="true"/>
          <p:nvPr/>
        </p:nvSpPr>
        <p:spPr>
          <a:xfrm rot="0">
            <a:off x="14231836" y="7343775"/>
            <a:ext cx="2780262" cy="506463"/>
          </a:xfrm>
          <a:prstGeom prst="rect">
            <a:avLst/>
          </a:prstGeom>
        </p:spPr>
        <p:txBody>
          <a:bodyPr anchor="t" rtlCol="false" tIns="0" lIns="0" bIns="0" rIns="0">
            <a:spAutoFit/>
          </a:bodyPr>
          <a:lstStyle/>
          <a:p>
            <a:pPr algn="ctr">
              <a:lnSpc>
                <a:spcPts val="3812"/>
              </a:lnSpc>
            </a:pPr>
            <a:r>
              <a:rPr lang="en-US" sz="3062" b="true">
                <a:solidFill>
                  <a:srgbClr val="272525"/>
                </a:solidFill>
                <a:latin typeface="Petrona Bold"/>
                <a:ea typeface="Petrona Bold"/>
                <a:cs typeface="Petrona Bold"/>
                <a:sym typeface="Petrona Bold"/>
              </a:rPr>
              <a:t>Today</a:t>
            </a:r>
          </a:p>
        </p:txBody>
      </p:sp>
      <p:sp>
        <p:nvSpPr>
          <p:cNvPr name="TextBox 74" id="74"/>
          <p:cNvSpPr txBox="true"/>
          <p:nvPr/>
        </p:nvSpPr>
        <p:spPr>
          <a:xfrm rot="0">
            <a:off x="14231836" y="7934620"/>
            <a:ext cx="2780262" cy="992981"/>
          </a:xfrm>
          <a:prstGeom prst="rect">
            <a:avLst/>
          </a:prstGeom>
        </p:spPr>
        <p:txBody>
          <a:bodyPr anchor="t" rtlCol="false" tIns="0" lIns="0" bIns="0" rIns="0">
            <a:spAutoFit/>
          </a:bodyPr>
          <a:lstStyle/>
          <a:p>
            <a:pPr algn="ctr">
              <a:lnSpc>
                <a:spcPts val="3562"/>
              </a:lnSpc>
            </a:pPr>
            <a:r>
              <a:rPr lang="en-US" sz="2187">
                <a:solidFill>
                  <a:srgbClr val="272525"/>
                </a:solidFill>
                <a:latin typeface="Inter"/>
                <a:ea typeface="Inter"/>
                <a:cs typeface="Inter"/>
                <a:sym typeface="Inter"/>
              </a:rPr>
              <a:t>Enduring the legacy of C</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2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DFAF7"/>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50238" y="1742332"/>
            <a:ext cx="8380362" cy="1012622"/>
          </a:xfrm>
          <a:prstGeom prst="rect">
            <a:avLst/>
          </a:prstGeom>
        </p:spPr>
        <p:txBody>
          <a:bodyPr anchor="t" rtlCol="false" tIns="0" lIns="0" bIns="0" rIns="0">
            <a:spAutoFit/>
          </a:bodyPr>
          <a:lstStyle/>
          <a:p>
            <a:pPr algn="l">
              <a:lnSpc>
                <a:spcPts val="7625"/>
              </a:lnSpc>
            </a:pPr>
            <a:r>
              <a:rPr lang="en-US" b="true" sz="6124">
                <a:solidFill>
                  <a:srgbClr val="2F3C9A"/>
                </a:solidFill>
                <a:latin typeface="Petrona Bold"/>
                <a:ea typeface="Petrona Bold"/>
                <a:cs typeface="Petrona Bold"/>
                <a:sym typeface="Petrona Bold"/>
              </a:rPr>
              <a:t>The Roots and Rise of C</a:t>
            </a:r>
          </a:p>
        </p:txBody>
      </p:sp>
      <p:grpSp>
        <p:nvGrpSpPr>
          <p:cNvPr name="Group 9" id="9"/>
          <p:cNvGrpSpPr/>
          <p:nvPr/>
        </p:nvGrpSpPr>
        <p:grpSpPr>
          <a:xfrm rot="0">
            <a:off x="7845476" y="3175397"/>
            <a:ext cx="4590459" cy="5335791"/>
            <a:chOff x="0" y="0"/>
            <a:chExt cx="6120613" cy="7114388"/>
          </a:xfrm>
        </p:grpSpPr>
        <p:sp>
          <p:nvSpPr>
            <p:cNvPr name="Freeform 10" id="10"/>
            <p:cNvSpPr/>
            <p:nvPr/>
          </p:nvSpPr>
          <p:spPr>
            <a:xfrm flipH="false" flipV="false" rot="0">
              <a:off x="6350" y="6350"/>
              <a:ext cx="6107811" cy="7101713"/>
            </a:xfrm>
            <a:custGeom>
              <a:avLst/>
              <a:gdLst/>
              <a:ahLst/>
              <a:cxnLst/>
              <a:rect r="r" b="b" t="t" l="l"/>
              <a:pathLst>
                <a:path h="7101713" w="6107811">
                  <a:moveTo>
                    <a:pt x="0" y="158877"/>
                  </a:moveTo>
                  <a:cubicBezTo>
                    <a:pt x="0" y="71120"/>
                    <a:pt x="71120" y="0"/>
                    <a:pt x="158750" y="0"/>
                  </a:cubicBezTo>
                  <a:lnTo>
                    <a:pt x="5949061" y="0"/>
                  </a:lnTo>
                  <a:cubicBezTo>
                    <a:pt x="6036818" y="0"/>
                    <a:pt x="6107811" y="71120"/>
                    <a:pt x="6107811" y="158877"/>
                  </a:cubicBezTo>
                  <a:lnTo>
                    <a:pt x="6107811" y="6942836"/>
                  </a:lnTo>
                  <a:cubicBezTo>
                    <a:pt x="6107811" y="7030593"/>
                    <a:pt x="6036691" y="7101713"/>
                    <a:pt x="5949061" y="7101713"/>
                  </a:cubicBezTo>
                  <a:lnTo>
                    <a:pt x="158750" y="7101713"/>
                  </a:lnTo>
                  <a:cubicBezTo>
                    <a:pt x="70993" y="7101713"/>
                    <a:pt x="0" y="7030593"/>
                    <a:pt x="0" y="6942836"/>
                  </a:cubicBezTo>
                  <a:close/>
                </a:path>
              </a:pathLst>
            </a:custGeom>
            <a:solidFill>
              <a:srgbClr val="E0D7F4"/>
            </a:solidFill>
          </p:spPr>
        </p:sp>
        <p:sp>
          <p:nvSpPr>
            <p:cNvPr name="Freeform 11" id="11"/>
            <p:cNvSpPr/>
            <p:nvPr/>
          </p:nvSpPr>
          <p:spPr>
            <a:xfrm flipH="false" flipV="false" rot="0">
              <a:off x="0" y="0"/>
              <a:ext cx="6120511" cy="7114413"/>
            </a:xfrm>
            <a:custGeom>
              <a:avLst/>
              <a:gdLst/>
              <a:ahLst/>
              <a:cxnLst/>
              <a:rect r="r" b="b" t="t" l="l"/>
              <a:pathLst>
                <a:path h="7114413" w="6120511">
                  <a:moveTo>
                    <a:pt x="0" y="165227"/>
                  </a:moveTo>
                  <a:cubicBezTo>
                    <a:pt x="0" y="73914"/>
                    <a:pt x="73914" y="0"/>
                    <a:pt x="165100" y="0"/>
                  </a:cubicBezTo>
                  <a:lnTo>
                    <a:pt x="5955411" y="0"/>
                  </a:lnTo>
                  <a:lnTo>
                    <a:pt x="5955411" y="6350"/>
                  </a:lnTo>
                  <a:lnTo>
                    <a:pt x="5955411" y="0"/>
                  </a:lnTo>
                  <a:cubicBezTo>
                    <a:pt x="6046597" y="0"/>
                    <a:pt x="6120511" y="73914"/>
                    <a:pt x="6120511" y="165227"/>
                  </a:cubicBezTo>
                  <a:lnTo>
                    <a:pt x="6114161" y="165227"/>
                  </a:lnTo>
                  <a:lnTo>
                    <a:pt x="6120511" y="165227"/>
                  </a:lnTo>
                  <a:lnTo>
                    <a:pt x="6120511" y="6949186"/>
                  </a:lnTo>
                  <a:lnTo>
                    <a:pt x="6114161" y="6949186"/>
                  </a:lnTo>
                  <a:lnTo>
                    <a:pt x="6120511" y="6949186"/>
                  </a:lnTo>
                  <a:cubicBezTo>
                    <a:pt x="6120511" y="7040372"/>
                    <a:pt x="6046597" y="7114413"/>
                    <a:pt x="5955411" y="7114413"/>
                  </a:cubicBezTo>
                  <a:lnTo>
                    <a:pt x="5955411" y="7108063"/>
                  </a:lnTo>
                  <a:lnTo>
                    <a:pt x="5955411" y="7114413"/>
                  </a:lnTo>
                  <a:lnTo>
                    <a:pt x="165100" y="7114413"/>
                  </a:lnTo>
                  <a:lnTo>
                    <a:pt x="165100" y="7108063"/>
                  </a:lnTo>
                  <a:lnTo>
                    <a:pt x="165100" y="7114413"/>
                  </a:lnTo>
                  <a:cubicBezTo>
                    <a:pt x="73914" y="7114413"/>
                    <a:pt x="0" y="7040499"/>
                    <a:pt x="0" y="6949186"/>
                  </a:cubicBezTo>
                  <a:lnTo>
                    <a:pt x="0" y="165227"/>
                  </a:lnTo>
                  <a:lnTo>
                    <a:pt x="6350" y="165227"/>
                  </a:lnTo>
                  <a:lnTo>
                    <a:pt x="0" y="165227"/>
                  </a:lnTo>
                  <a:moveTo>
                    <a:pt x="12700" y="165227"/>
                  </a:moveTo>
                  <a:lnTo>
                    <a:pt x="12700" y="6949186"/>
                  </a:lnTo>
                  <a:lnTo>
                    <a:pt x="6350" y="6949186"/>
                  </a:lnTo>
                  <a:lnTo>
                    <a:pt x="12700" y="6949186"/>
                  </a:lnTo>
                  <a:cubicBezTo>
                    <a:pt x="12700" y="7033387"/>
                    <a:pt x="80899" y="7101713"/>
                    <a:pt x="165100" y="7101713"/>
                  </a:cubicBezTo>
                  <a:lnTo>
                    <a:pt x="5955411" y="7101713"/>
                  </a:lnTo>
                  <a:cubicBezTo>
                    <a:pt x="6039612" y="7101713"/>
                    <a:pt x="6107811" y="7033387"/>
                    <a:pt x="6107811" y="6949186"/>
                  </a:cubicBezTo>
                  <a:lnTo>
                    <a:pt x="6107811" y="165227"/>
                  </a:lnTo>
                  <a:cubicBezTo>
                    <a:pt x="6107811" y="81026"/>
                    <a:pt x="6039612" y="12700"/>
                    <a:pt x="5955411" y="12700"/>
                  </a:cubicBezTo>
                  <a:lnTo>
                    <a:pt x="165100" y="12700"/>
                  </a:lnTo>
                  <a:lnTo>
                    <a:pt x="165100" y="6350"/>
                  </a:lnTo>
                  <a:lnTo>
                    <a:pt x="165100" y="12700"/>
                  </a:lnTo>
                  <a:cubicBezTo>
                    <a:pt x="80899" y="12700"/>
                    <a:pt x="12700" y="81026"/>
                    <a:pt x="12700" y="165227"/>
                  </a:cubicBezTo>
                  <a:close/>
                </a:path>
              </a:pathLst>
            </a:custGeom>
            <a:solidFill>
              <a:srgbClr val="C6BDDA"/>
            </a:solidFill>
          </p:spPr>
        </p:sp>
      </p:grpSp>
      <p:sp>
        <p:nvSpPr>
          <p:cNvPr name="TextBox 12" id="12"/>
          <p:cNvSpPr txBox="true"/>
          <p:nvPr/>
        </p:nvSpPr>
        <p:spPr>
          <a:xfrm rot="0">
            <a:off x="8143284" y="3454156"/>
            <a:ext cx="3898554" cy="506463"/>
          </a:xfrm>
          <a:prstGeom prst="rect">
            <a:avLst/>
          </a:prstGeom>
        </p:spPr>
        <p:txBody>
          <a:bodyPr anchor="t" rtlCol="false" tIns="0" lIns="0" bIns="0" rIns="0">
            <a:spAutoFit/>
          </a:bodyPr>
          <a:lstStyle/>
          <a:p>
            <a:pPr algn="l">
              <a:lnSpc>
                <a:spcPts val="3812"/>
              </a:lnSpc>
            </a:pPr>
            <a:r>
              <a:rPr lang="en-US" sz="3062" b="true">
                <a:solidFill>
                  <a:srgbClr val="272525"/>
                </a:solidFill>
                <a:latin typeface="Petrona Bold"/>
                <a:ea typeface="Petrona Bold"/>
                <a:cs typeface="Petrona Bold"/>
                <a:sym typeface="Petrona Bold"/>
              </a:rPr>
              <a:t>The Roots</a:t>
            </a:r>
          </a:p>
        </p:txBody>
      </p:sp>
      <p:sp>
        <p:nvSpPr>
          <p:cNvPr name="TextBox 13" id="13"/>
          <p:cNvSpPr txBox="true"/>
          <p:nvPr/>
        </p:nvSpPr>
        <p:spPr>
          <a:xfrm rot="0">
            <a:off x="8143284" y="4045001"/>
            <a:ext cx="3994842" cy="3995737"/>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C emerged from BCPL and B languages, inheriting structured programming principles whilst adding low-level memory access capabilities. Dennis Ritchie designed it specifically to rewrite the UNIX operating system.</a:t>
            </a:r>
          </a:p>
        </p:txBody>
      </p:sp>
      <p:grpSp>
        <p:nvGrpSpPr>
          <p:cNvPr name="Group 14" id="14"/>
          <p:cNvGrpSpPr/>
          <p:nvPr/>
        </p:nvGrpSpPr>
        <p:grpSpPr>
          <a:xfrm rot="0">
            <a:off x="12709922" y="3175397"/>
            <a:ext cx="4590602" cy="5335791"/>
            <a:chOff x="0" y="0"/>
            <a:chExt cx="6120803" cy="7114388"/>
          </a:xfrm>
        </p:grpSpPr>
        <p:sp>
          <p:nvSpPr>
            <p:cNvPr name="Freeform 15" id="15"/>
            <p:cNvSpPr/>
            <p:nvPr/>
          </p:nvSpPr>
          <p:spPr>
            <a:xfrm flipH="false" flipV="false" rot="0">
              <a:off x="6350" y="6350"/>
              <a:ext cx="6108065" cy="7101586"/>
            </a:xfrm>
            <a:custGeom>
              <a:avLst/>
              <a:gdLst/>
              <a:ahLst/>
              <a:cxnLst/>
              <a:rect r="r" b="b" t="t" l="l"/>
              <a:pathLst>
                <a:path h="7101586" w="6108065">
                  <a:moveTo>
                    <a:pt x="0" y="158750"/>
                  </a:moveTo>
                  <a:cubicBezTo>
                    <a:pt x="0" y="71120"/>
                    <a:pt x="71120" y="0"/>
                    <a:pt x="158750" y="0"/>
                  </a:cubicBezTo>
                  <a:lnTo>
                    <a:pt x="5949315" y="0"/>
                  </a:lnTo>
                  <a:cubicBezTo>
                    <a:pt x="6036945" y="0"/>
                    <a:pt x="6108065" y="71120"/>
                    <a:pt x="6108065" y="158750"/>
                  </a:cubicBezTo>
                  <a:lnTo>
                    <a:pt x="6108065" y="6942836"/>
                  </a:lnTo>
                  <a:cubicBezTo>
                    <a:pt x="6108065" y="7030593"/>
                    <a:pt x="6036945" y="7101586"/>
                    <a:pt x="5949315" y="7101586"/>
                  </a:cubicBezTo>
                  <a:lnTo>
                    <a:pt x="158750" y="7101586"/>
                  </a:lnTo>
                  <a:cubicBezTo>
                    <a:pt x="71120" y="7101586"/>
                    <a:pt x="0" y="7030466"/>
                    <a:pt x="0" y="6942836"/>
                  </a:cubicBezTo>
                  <a:close/>
                </a:path>
              </a:pathLst>
            </a:custGeom>
            <a:solidFill>
              <a:srgbClr val="E0D7F4"/>
            </a:solidFill>
          </p:spPr>
        </p:sp>
        <p:sp>
          <p:nvSpPr>
            <p:cNvPr name="Freeform 16" id="16"/>
            <p:cNvSpPr/>
            <p:nvPr/>
          </p:nvSpPr>
          <p:spPr>
            <a:xfrm flipH="false" flipV="false" rot="0">
              <a:off x="0" y="0"/>
              <a:ext cx="6120765" cy="7114286"/>
            </a:xfrm>
            <a:custGeom>
              <a:avLst/>
              <a:gdLst/>
              <a:ahLst/>
              <a:cxnLst/>
              <a:rect r="r" b="b" t="t" l="l"/>
              <a:pathLst>
                <a:path h="7114286" w="6120765">
                  <a:moveTo>
                    <a:pt x="0" y="165100"/>
                  </a:moveTo>
                  <a:cubicBezTo>
                    <a:pt x="0" y="73914"/>
                    <a:pt x="73914" y="0"/>
                    <a:pt x="165100" y="0"/>
                  </a:cubicBezTo>
                  <a:lnTo>
                    <a:pt x="5955665" y="0"/>
                  </a:lnTo>
                  <a:lnTo>
                    <a:pt x="5955665" y="6350"/>
                  </a:lnTo>
                  <a:lnTo>
                    <a:pt x="5955665" y="0"/>
                  </a:lnTo>
                  <a:cubicBezTo>
                    <a:pt x="6046851" y="0"/>
                    <a:pt x="6120765" y="73914"/>
                    <a:pt x="6120765" y="165100"/>
                  </a:cubicBezTo>
                  <a:lnTo>
                    <a:pt x="6114415" y="165100"/>
                  </a:lnTo>
                  <a:lnTo>
                    <a:pt x="6120765" y="165100"/>
                  </a:lnTo>
                  <a:lnTo>
                    <a:pt x="6120765" y="6949186"/>
                  </a:lnTo>
                  <a:lnTo>
                    <a:pt x="6114415" y="6949186"/>
                  </a:lnTo>
                  <a:lnTo>
                    <a:pt x="6120765" y="6949186"/>
                  </a:lnTo>
                  <a:cubicBezTo>
                    <a:pt x="6120765" y="7040372"/>
                    <a:pt x="6046851" y="7114286"/>
                    <a:pt x="5955665" y="7114286"/>
                  </a:cubicBezTo>
                  <a:lnTo>
                    <a:pt x="5955665" y="7107936"/>
                  </a:lnTo>
                  <a:lnTo>
                    <a:pt x="5955665" y="7114286"/>
                  </a:lnTo>
                  <a:lnTo>
                    <a:pt x="165100" y="7114286"/>
                  </a:lnTo>
                  <a:lnTo>
                    <a:pt x="165100" y="7107936"/>
                  </a:lnTo>
                  <a:lnTo>
                    <a:pt x="165100" y="7114286"/>
                  </a:lnTo>
                  <a:cubicBezTo>
                    <a:pt x="73914" y="7114286"/>
                    <a:pt x="0" y="7040372"/>
                    <a:pt x="0" y="6949186"/>
                  </a:cubicBezTo>
                  <a:lnTo>
                    <a:pt x="0" y="165100"/>
                  </a:lnTo>
                  <a:lnTo>
                    <a:pt x="6350" y="165100"/>
                  </a:lnTo>
                  <a:lnTo>
                    <a:pt x="0" y="165100"/>
                  </a:lnTo>
                  <a:moveTo>
                    <a:pt x="12700" y="165100"/>
                  </a:moveTo>
                  <a:lnTo>
                    <a:pt x="12700" y="6949186"/>
                  </a:lnTo>
                  <a:lnTo>
                    <a:pt x="6350" y="6949186"/>
                  </a:lnTo>
                  <a:lnTo>
                    <a:pt x="12700" y="6949186"/>
                  </a:lnTo>
                  <a:cubicBezTo>
                    <a:pt x="12700" y="7033387"/>
                    <a:pt x="80899" y="7101586"/>
                    <a:pt x="165100" y="7101586"/>
                  </a:cubicBezTo>
                  <a:lnTo>
                    <a:pt x="5955665" y="7101586"/>
                  </a:lnTo>
                  <a:cubicBezTo>
                    <a:pt x="6039866" y="7101586"/>
                    <a:pt x="6108065" y="7033387"/>
                    <a:pt x="6108065" y="6949186"/>
                  </a:cubicBezTo>
                  <a:lnTo>
                    <a:pt x="6108065" y="165100"/>
                  </a:lnTo>
                  <a:cubicBezTo>
                    <a:pt x="6108065" y="80899"/>
                    <a:pt x="6039866" y="12700"/>
                    <a:pt x="5955665" y="12700"/>
                  </a:cubicBezTo>
                  <a:lnTo>
                    <a:pt x="165100" y="12700"/>
                  </a:lnTo>
                  <a:lnTo>
                    <a:pt x="165100" y="6350"/>
                  </a:lnTo>
                  <a:lnTo>
                    <a:pt x="165100" y="12700"/>
                  </a:lnTo>
                  <a:cubicBezTo>
                    <a:pt x="80899" y="12700"/>
                    <a:pt x="12700" y="80899"/>
                    <a:pt x="12700" y="165100"/>
                  </a:cubicBezTo>
                  <a:close/>
                </a:path>
              </a:pathLst>
            </a:custGeom>
            <a:solidFill>
              <a:srgbClr val="C6BDDA"/>
            </a:solidFill>
          </p:spPr>
        </p:sp>
      </p:grpSp>
      <p:sp>
        <p:nvSpPr>
          <p:cNvPr name="TextBox 17" id="17"/>
          <p:cNvSpPr txBox="true"/>
          <p:nvPr/>
        </p:nvSpPr>
        <p:spPr>
          <a:xfrm rot="0">
            <a:off x="13007731" y="3454156"/>
            <a:ext cx="3898554" cy="506463"/>
          </a:xfrm>
          <a:prstGeom prst="rect">
            <a:avLst/>
          </a:prstGeom>
        </p:spPr>
        <p:txBody>
          <a:bodyPr anchor="t" rtlCol="false" tIns="0" lIns="0" bIns="0" rIns="0">
            <a:spAutoFit/>
          </a:bodyPr>
          <a:lstStyle/>
          <a:p>
            <a:pPr algn="l">
              <a:lnSpc>
                <a:spcPts val="3812"/>
              </a:lnSpc>
            </a:pPr>
            <a:r>
              <a:rPr lang="en-US" sz="3062" b="true">
                <a:solidFill>
                  <a:srgbClr val="272525"/>
                </a:solidFill>
                <a:latin typeface="Petrona Bold"/>
                <a:ea typeface="Petrona Bold"/>
                <a:cs typeface="Petrona Bold"/>
                <a:sym typeface="Petrona Bold"/>
              </a:rPr>
              <a:t>The Rise</a:t>
            </a:r>
          </a:p>
        </p:txBody>
      </p:sp>
      <p:sp>
        <p:nvSpPr>
          <p:cNvPr name="TextBox 18" id="18"/>
          <p:cNvSpPr txBox="true"/>
          <p:nvPr/>
        </p:nvSpPr>
        <p:spPr>
          <a:xfrm rot="0">
            <a:off x="13007731" y="4045001"/>
            <a:ext cx="3994995" cy="4168378"/>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C's portability, efficiency, and power led to widespread adoption. It became the language of choice for operating systems, compilers, and system software, establishing patterns that influenced generations of languages.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2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DFAF7"/>
            </a:solidFill>
          </p:spPr>
        </p:sp>
      </p:grpSp>
      <p:sp>
        <p:nvSpPr>
          <p:cNvPr name="TextBox 6" id="6"/>
          <p:cNvSpPr txBox="true"/>
          <p:nvPr/>
        </p:nvSpPr>
        <p:spPr>
          <a:xfrm rot="0">
            <a:off x="992238" y="892378"/>
            <a:ext cx="11611566" cy="1012622"/>
          </a:xfrm>
          <a:prstGeom prst="rect">
            <a:avLst/>
          </a:prstGeom>
        </p:spPr>
        <p:txBody>
          <a:bodyPr anchor="t" rtlCol="false" tIns="0" lIns="0" bIns="0" rIns="0">
            <a:spAutoFit/>
          </a:bodyPr>
          <a:lstStyle/>
          <a:p>
            <a:pPr algn="l">
              <a:lnSpc>
                <a:spcPts val="7625"/>
              </a:lnSpc>
            </a:pPr>
            <a:r>
              <a:rPr lang="en-US" sz="6124" b="true">
                <a:solidFill>
                  <a:srgbClr val="F95F88"/>
                </a:solidFill>
                <a:latin typeface="Petrona Bold"/>
                <a:ea typeface="Petrona Bold"/>
                <a:cs typeface="Petrona Bold"/>
                <a:sym typeface="Petrona Bold"/>
              </a:rPr>
              <a:t>Core Features of C Programming</a:t>
            </a:r>
          </a:p>
        </p:txBody>
      </p:sp>
      <p:grpSp>
        <p:nvGrpSpPr>
          <p:cNvPr name="Group 7" id="7"/>
          <p:cNvGrpSpPr/>
          <p:nvPr/>
        </p:nvGrpSpPr>
        <p:grpSpPr>
          <a:xfrm rot="0">
            <a:off x="992238" y="2472033"/>
            <a:ext cx="2209800" cy="2209800"/>
            <a:chOff x="0" y="0"/>
            <a:chExt cx="2946400" cy="2946400"/>
          </a:xfrm>
        </p:grpSpPr>
        <p:sp>
          <p:nvSpPr>
            <p:cNvPr name="Freeform 8" id="8" descr="preencoded.png"/>
            <p:cNvSpPr/>
            <p:nvPr/>
          </p:nvSpPr>
          <p:spPr>
            <a:xfrm flipH="false" flipV="false" rot="0">
              <a:off x="0" y="0"/>
              <a:ext cx="2946400" cy="2946400"/>
            </a:xfrm>
            <a:custGeom>
              <a:avLst/>
              <a:gdLst/>
              <a:ahLst/>
              <a:cxnLst/>
              <a:rect r="r" b="b" t="t" l="l"/>
              <a:pathLst>
                <a:path h="2946400" w="2946400">
                  <a:moveTo>
                    <a:pt x="0" y="0"/>
                  </a:moveTo>
                  <a:lnTo>
                    <a:pt x="2946400" y="0"/>
                  </a:lnTo>
                  <a:lnTo>
                    <a:pt x="2946400" y="2946400"/>
                  </a:lnTo>
                  <a:lnTo>
                    <a:pt x="0" y="2946400"/>
                  </a:lnTo>
                  <a:lnTo>
                    <a:pt x="0" y="0"/>
                  </a:lnTo>
                  <a:close/>
                </a:path>
              </a:pathLst>
            </a:custGeom>
            <a:blipFill>
              <a:blip r:embed="rId3"/>
              <a:stretch>
                <a:fillRect l="0" t="0" r="0" b="0"/>
              </a:stretch>
            </a:blipFill>
          </p:spPr>
        </p:sp>
      </p:grpSp>
      <p:sp>
        <p:nvSpPr>
          <p:cNvPr name="TextBox 9" id="9"/>
          <p:cNvSpPr txBox="true"/>
          <p:nvPr/>
        </p:nvSpPr>
        <p:spPr>
          <a:xfrm rot="0">
            <a:off x="992238" y="5017141"/>
            <a:ext cx="3810000" cy="993877"/>
          </a:xfrm>
          <a:prstGeom prst="rect">
            <a:avLst/>
          </a:prstGeom>
        </p:spPr>
        <p:txBody>
          <a:bodyPr anchor="t" rtlCol="false" tIns="0" lIns="0" bIns="0" rIns="0">
            <a:spAutoFit/>
          </a:bodyPr>
          <a:lstStyle/>
          <a:p>
            <a:pPr algn="l">
              <a:lnSpc>
                <a:spcPts val="3812"/>
              </a:lnSpc>
            </a:pPr>
            <a:r>
              <a:rPr lang="en-US" sz="3062" b="true">
                <a:solidFill>
                  <a:srgbClr val="272525"/>
                </a:solidFill>
                <a:latin typeface="Petrona Bold"/>
                <a:ea typeface="Petrona Bold"/>
                <a:cs typeface="Petrona Bold"/>
                <a:sym typeface="Petrona Bold"/>
              </a:rPr>
              <a:t>Efficiency and Performance</a:t>
            </a:r>
          </a:p>
        </p:txBody>
      </p:sp>
      <p:sp>
        <p:nvSpPr>
          <p:cNvPr name="TextBox 10" id="10"/>
          <p:cNvSpPr txBox="true"/>
          <p:nvPr/>
        </p:nvSpPr>
        <p:spPr>
          <a:xfrm rot="0">
            <a:off x="992238" y="6095409"/>
            <a:ext cx="3810000" cy="2807494"/>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C provides direct access to memory through pointers, enabling highly optimised code that runs close to machine level with minimal overhead.</a:t>
            </a:r>
          </a:p>
        </p:txBody>
      </p:sp>
      <p:grpSp>
        <p:nvGrpSpPr>
          <p:cNvPr name="Group 11" id="11"/>
          <p:cNvGrpSpPr/>
          <p:nvPr/>
        </p:nvGrpSpPr>
        <p:grpSpPr>
          <a:xfrm rot="0">
            <a:off x="5156597" y="2472033"/>
            <a:ext cx="2209800" cy="2209800"/>
            <a:chOff x="0" y="0"/>
            <a:chExt cx="2946400" cy="2946400"/>
          </a:xfrm>
        </p:grpSpPr>
        <p:sp>
          <p:nvSpPr>
            <p:cNvPr name="Freeform 12" id="12" descr="preencoded.png"/>
            <p:cNvSpPr/>
            <p:nvPr/>
          </p:nvSpPr>
          <p:spPr>
            <a:xfrm flipH="false" flipV="false" rot="0">
              <a:off x="0" y="0"/>
              <a:ext cx="2946400" cy="2946400"/>
            </a:xfrm>
            <a:custGeom>
              <a:avLst/>
              <a:gdLst/>
              <a:ahLst/>
              <a:cxnLst/>
              <a:rect r="r" b="b" t="t" l="l"/>
              <a:pathLst>
                <a:path h="2946400" w="2946400">
                  <a:moveTo>
                    <a:pt x="0" y="0"/>
                  </a:moveTo>
                  <a:lnTo>
                    <a:pt x="2946400" y="0"/>
                  </a:lnTo>
                  <a:lnTo>
                    <a:pt x="2946400" y="2946400"/>
                  </a:lnTo>
                  <a:lnTo>
                    <a:pt x="0" y="2946400"/>
                  </a:lnTo>
                  <a:lnTo>
                    <a:pt x="0" y="0"/>
                  </a:lnTo>
                  <a:close/>
                </a:path>
              </a:pathLst>
            </a:custGeom>
            <a:blipFill>
              <a:blip r:embed="rId4"/>
              <a:stretch>
                <a:fillRect l="0" t="0" r="0" b="0"/>
              </a:stretch>
            </a:blipFill>
          </p:spPr>
        </p:sp>
      </p:grpSp>
      <p:sp>
        <p:nvSpPr>
          <p:cNvPr name="TextBox 13" id="13"/>
          <p:cNvSpPr txBox="true"/>
          <p:nvPr/>
        </p:nvSpPr>
        <p:spPr>
          <a:xfrm rot="0">
            <a:off x="5156597" y="5017141"/>
            <a:ext cx="3810152" cy="506463"/>
          </a:xfrm>
          <a:prstGeom prst="rect">
            <a:avLst/>
          </a:prstGeom>
        </p:spPr>
        <p:txBody>
          <a:bodyPr anchor="t" rtlCol="false" tIns="0" lIns="0" bIns="0" rIns="0">
            <a:spAutoFit/>
          </a:bodyPr>
          <a:lstStyle/>
          <a:p>
            <a:pPr algn="l">
              <a:lnSpc>
                <a:spcPts val="3812"/>
              </a:lnSpc>
            </a:pPr>
            <a:r>
              <a:rPr lang="en-US" sz="3062" b="true">
                <a:solidFill>
                  <a:srgbClr val="272525"/>
                </a:solidFill>
                <a:latin typeface="Petrona Bold"/>
                <a:ea typeface="Petrona Bold"/>
                <a:cs typeface="Petrona Bold"/>
                <a:sym typeface="Petrona Bold"/>
              </a:rPr>
              <a:t>Portability</a:t>
            </a:r>
          </a:p>
        </p:txBody>
      </p:sp>
      <p:sp>
        <p:nvSpPr>
          <p:cNvPr name="TextBox 14" id="14"/>
          <p:cNvSpPr txBox="true"/>
          <p:nvPr/>
        </p:nvSpPr>
        <p:spPr>
          <a:xfrm rot="0">
            <a:off x="5156597" y="5607996"/>
            <a:ext cx="3810152" cy="2807494"/>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Write once, compile anywhere. C code can be compiled on virtually any platform, making it ideal for cross-platform development and system programming.</a:t>
            </a:r>
          </a:p>
        </p:txBody>
      </p:sp>
      <p:grpSp>
        <p:nvGrpSpPr>
          <p:cNvPr name="Group 15" id="15"/>
          <p:cNvGrpSpPr/>
          <p:nvPr/>
        </p:nvGrpSpPr>
        <p:grpSpPr>
          <a:xfrm rot="0">
            <a:off x="9321108" y="2472033"/>
            <a:ext cx="2209800" cy="2209800"/>
            <a:chOff x="0" y="0"/>
            <a:chExt cx="2946400" cy="2946400"/>
          </a:xfrm>
        </p:grpSpPr>
        <p:sp>
          <p:nvSpPr>
            <p:cNvPr name="Freeform 16" id="16" descr="preencoded.png"/>
            <p:cNvSpPr/>
            <p:nvPr/>
          </p:nvSpPr>
          <p:spPr>
            <a:xfrm flipH="false" flipV="false" rot="0">
              <a:off x="0" y="0"/>
              <a:ext cx="2946400" cy="2946400"/>
            </a:xfrm>
            <a:custGeom>
              <a:avLst/>
              <a:gdLst/>
              <a:ahLst/>
              <a:cxnLst/>
              <a:rect r="r" b="b" t="t" l="l"/>
              <a:pathLst>
                <a:path h="2946400" w="2946400">
                  <a:moveTo>
                    <a:pt x="0" y="0"/>
                  </a:moveTo>
                  <a:lnTo>
                    <a:pt x="2946400" y="0"/>
                  </a:lnTo>
                  <a:lnTo>
                    <a:pt x="2946400" y="2946400"/>
                  </a:lnTo>
                  <a:lnTo>
                    <a:pt x="0" y="2946400"/>
                  </a:lnTo>
                  <a:lnTo>
                    <a:pt x="0" y="0"/>
                  </a:lnTo>
                  <a:close/>
                </a:path>
              </a:pathLst>
            </a:custGeom>
            <a:blipFill>
              <a:blip r:embed="rId5"/>
              <a:stretch>
                <a:fillRect l="0" t="0" r="0" b="0"/>
              </a:stretch>
            </a:blipFill>
          </p:spPr>
        </p:sp>
      </p:grpSp>
      <p:sp>
        <p:nvSpPr>
          <p:cNvPr name="TextBox 17" id="17"/>
          <p:cNvSpPr txBox="true"/>
          <p:nvPr/>
        </p:nvSpPr>
        <p:spPr>
          <a:xfrm rot="0">
            <a:off x="9321108" y="5017141"/>
            <a:ext cx="3810152" cy="993877"/>
          </a:xfrm>
          <a:prstGeom prst="rect">
            <a:avLst/>
          </a:prstGeom>
        </p:spPr>
        <p:txBody>
          <a:bodyPr anchor="t" rtlCol="false" tIns="0" lIns="0" bIns="0" rIns="0">
            <a:spAutoFit/>
          </a:bodyPr>
          <a:lstStyle/>
          <a:p>
            <a:pPr algn="l">
              <a:lnSpc>
                <a:spcPts val="3812"/>
              </a:lnSpc>
            </a:pPr>
            <a:r>
              <a:rPr lang="en-US" sz="3062" b="true">
                <a:solidFill>
                  <a:srgbClr val="272525"/>
                </a:solidFill>
                <a:latin typeface="Petrona Bold"/>
                <a:ea typeface="Petrona Bold"/>
                <a:cs typeface="Petrona Bold"/>
                <a:sym typeface="Petrona Bold"/>
              </a:rPr>
              <a:t>Structured Programming</a:t>
            </a:r>
          </a:p>
        </p:txBody>
      </p:sp>
      <p:sp>
        <p:nvSpPr>
          <p:cNvPr name="TextBox 18" id="18"/>
          <p:cNvSpPr txBox="true"/>
          <p:nvPr/>
        </p:nvSpPr>
        <p:spPr>
          <a:xfrm rot="0">
            <a:off x="9321108" y="6095409"/>
            <a:ext cx="3810152" cy="2807494"/>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C supports modular programming with functions, making code organised, reusable, and easier to maintain across large projects.</a:t>
            </a:r>
          </a:p>
        </p:txBody>
      </p:sp>
      <p:grpSp>
        <p:nvGrpSpPr>
          <p:cNvPr name="Group 19" id="19"/>
          <p:cNvGrpSpPr/>
          <p:nvPr/>
        </p:nvGrpSpPr>
        <p:grpSpPr>
          <a:xfrm rot="0">
            <a:off x="13485609" y="2472033"/>
            <a:ext cx="2209800" cy="2209800"/>
            <a:chOff x="0" y="0"/>
            <a:chExt cx="2946400" cy="2946400"/>
          </a:xfrm>
        </p:grpSpPr>
        <p:sp>
          <p:nvSpPr>
            <p:cNvPr name="Freeform 20" id="20" descr="preencoded.png"/>
            <p:cNvSpPr/>
            <p:nvPr/>
          </p:nvSpPr>
          <p:spPr>
            <a:xfrm flipH="false" flipV="false" rot="0">
              <a:off x="0" y="0"/>
              <a:ext cx="2946400" cy="2946400"/>
            </a:xfrm>
            <a:custGeom>
              <a:avLst/>
              <a:gdLst/>
              <a:ahLst/>
              <a:cxnLst/>
              <a:rect r="r" b="b" t="t" l="l"/>
              <a:pathLst>
                <a:path h="2946400" w="2946400">
                  <a:moveTo>
                    <a:pt x="0" y="0"/>
                  </a:moveTo>
                  <a:lnTo>
                    <a:pt x="2946400" y="0"/>
                  </a:lnTo>
                  <a:lnTo>
                    <a:pt x="2946400" y="2946400"/>
                  </a:lnTo>
                  <a:lnTo>
                    <a:pt x="0" y="2946400"/>
                  </a:lnTo>
                  <a:lnTo>
                    <a:pt x="0" y="0"/>
                  </a:lnTo>
                  <a:close/>
                </a:path>
              </a:pathLst>
            </a:custGeom>
            <a:blipFill>
              <a:blip r:embed="rId6"/>
              <a:stretch>
                <a:fillRect l="0" t="0" r="0" b="0"/>
              </a:stretch>
            </a:blipFill>
          </p:spPr>
        </p:sp>
      </p:grpSp>
      <p:sp>
        <p:nvSpPr>
          <p:cNvPr name="TextBox 21" id="21"/>
          <p:cNvSpPr txBox="true"/>
          <p:nvPr/>
        </p:nvSpPr>
        <p:spPr>
          <a:xfrm rot="0">
            <a:off x="13485609" y="5017141"/>
            <a:ext cx="3810152" cy="993877"/>
          </a:xfrm>
          <a:prstGeom prst="rect">
            <a:avLst/>
          </a:prstGeom>
        </p:spPr>
        <p:txBody>
          <a:bodyPr anchor="t" rtlCol="false" tIns="0" lIns="0" bIns="0" rIns="0">
            <a:spAutoFit/>
          </a:bodyPr>
          <a:lstStyle/>
          <a:p>
            <a:pPr algn="l">
              <a:lnSpc>
                <a:spcPts val="3812"/>
              </a:lnSpc>
            </a:pPr>
            <a:r>
              <a:rPr lang="en-US" sz="3062" b="true">
                <a:solidFill>
                  <a:srgbClr val="272525"/>
                </a:solidFill>
                <a:latin typeface="Petrona Bold"/>
                <a:ea typeface="Petrona Bold"/>
                <a:cs typeface="Petrona Bold"/>
                <a:sym typeface="Petrona Bold"/>
              </a:rPr>
              <a:t>Direct Memory Access</a:t>
            </a:r>
          </a:p>
        </p:txBody>
      </p:sp>
      <p:sp>
        <p:nvSpPr>
          <p:cNvPr name="TextBox 22" id="22"/>
          <p:cNvSpPr txBox="true"/>
          <p:nvPr/>
        </p:nvSpPr>
        <p:spPr>
          <a:xfrm rot="0">
            <a:off x="13485609" y="6095409"/>
            <a:ext cx="3810152" cy="3261122"/>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C provides direct access to memory through pointers, enabling fine-grained control over system resources and hardware interaction for low-level programming tasks.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2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DFAF7"/>
            </a:solidFill>
          </p:spPr>
        </p:sp>
      </p:grpSp>
      <p:sp>
        <p:nvSpPr>
          <p:cNvPr name="TextBox 6" id="6"/>
          <p:cNvSpPr txBox="true"/>
          <p:nvPr/>
        </p:nvSpPr>
        <p:spPr>
          <a:xfrm rot="0">
            <a:off x="798614" y="1612554"/>
            <a:ext cx="12565704" cy="812902"/>
          </a:xfrm>
          <a:prstGeom prst="rect">
            <a:avLst/>
          </a:prstGeom>
        </p:spPr>
        <p:txBody>
          <a:bodyPr anchor="t" rtlCol="false" tIns="0" lIns="0" bIns="0" rIns="0">
            <a:spAutoFit/>
          </a:bodyPr>
          <a:lstStyle/>
          <a:p>
            <a:pPr algn="l">
              <a:lnSpc>
                <a:spcPts val="6125"/>
              </a:lnSpc>
            </a:pPr>
            <a:r>
              <a:rPr lang="en-US" sz="4937" b="true">
                <a:solidFill>
                  <a:srgbClr val="F95F88"/>
                </a:solidFill>
                <a:latin typeface="Petrona Bold"/>
                <a:ea typeface="Petrona Bold"/>
                <a:cs typeface="Petrona Bold"/>
                <a:sym typeface="Petrona Bold"/>
              </a:rPr>
              <a:t>The Influence of C in Modern Programming</a:t>
            </a:r>
          </a:p>
        </p:txBody>
      </p:sp>
      <p:grpSp>
        <p:nvGrpSpPr>
          <p:cNvPr name="Group 7" id="7"/>
          <p:cNvGrpSpPr/>
          <p:nvPr/>
        </p:nvGrpSpPr>
        <p:grpSpPr>
          <a:xfrm rot="0">
            <a:off x="798614" y="2907354"/>
            <a:ext cx="10654160" cy="5531939"/>
            <a:chOff x="0" y="0"/>
            <a:chExt cx="14205547" cy="7375919"/>
          </a:xfrm>
        </p:grpSpPr>
        <p:sp>
          <p:nvSpPr>
            <p:cNvPr name="Freeform 8" id="8" descr="preencoded.png"/>
            <p:cNvSpPr/>
            <p:nvPr/>
          </p:nvSpPr>
          <p:spPr>
            <a:xfrm flipH="false" flipV="false" rot="0">
              <a:off x="0" y="0"/>
              <a:ext cx="14205586" cy="7375906"/>
            </a:xfrm>
            <a:custGeom>
              <a:avLst/>
              <a:gdLst/>
              <a:ahLst/>
              <a:cxnLst/>
              <a:rect r="r" b="b" t="t" l="l"/>
              <a:pathLst>
                <a:path h="7375906" w="14205586">
                  <a:moveTo>
                    <a:pt x="0" y="0"/>
                  </a:moveTo>
                  <a:lnTo>
                    <a:pt x="14205586" y="0"/>
                  </a:lnTo>
                  <a:lnTo>
                    <a:pt x="14205586" y="7375906"/>
                  </a:lnTo>
                  <a:lnTo>
                    <a:pt x="0" y="7375906"/>
                  </a:lnTo>
                  <a:lnTo>
                    <a:pt x="0" y="0"/>
                  </a:lnTo>
                  <a:close/>
                </a:path>
              </a:pathLst>
            </a:custGeom>
            <a:blipFill>
              <a:blip r:embed="rId3"/>
              <a:stretch>
                <a:fillRect l="-1" t="0" r="-1" b="0"/>
              </a:stretch>
            </a:blipFill>
          </p:spPr>
        </p:sp>
      </p:grpSp>
      <p:sp>
        <p:nvSpPr>
          <p:cNvPr name="TextBox 9" id="9"/>
          <p:cNvSpPr txBox="true"/>
          <p:nvPr/>
        </p:nvSpPr>
        <p:spPr>
          <a:xfrm rot="0">
            <a:off x="5457692" y="5159940"/>
            <a:ext cx="1314726" cy="995229"/>
          </a:xfrm>
          <a:prstGeom prst="rect">
            <a:avLst/>
          </a:prstGeom>
        </p:spPr>
        <p:txBody>
          <a:bodyPr anchor="t" rtlCol="false" tIns="0" lIns="0" bIns="0" rIns="0">
            <a:spAutoFit/>
          </a:bodyPr>
          <a:lstStyle/>
          <a:p>
            <a:pPr algn="ctr">
              <a:lnSpc>
                <a:spcPts val="2500"/>
              </a:lnSpc>
            </a:pPr>
            <a:r>
              <a:rPr lang="en-US" sz="2000" b="true">
                <a:solidFill>
                  <a:srgbClr val="FFFFFF"/>
                </a:solidFill>
                <a:latin typeface="Petrona Bold"/>
                <a:ea typeface="Petrona Bold"/>
                <a:cs typeface="Petrona Bold"/>
                <a:sym typeface="Petrona Bold"/>
              </a:rPr>
              <a:t>C: Root of Many Languages</a:t>
            </a:r>
          </a:p>
        </p:txBody>
      </p:sp>
      <p:sp>
        <p:nvSpPr>
          <p:cNvPr name="Freeform 10" id="10" descr="preencoded.png"/>
          <p:cNvSpPr/>
          <p:nvPr/>
        </p:nvSpPr>
        <p:spPr>
          <a:xfrm flipH="false" flipV="false" rot="0">
            <a:off x="4704016" y="4374375"/>
            <a:ext cx="267548" cy="267548"/>
          </a:xfrm>
          <a:custGeom>
            <a:avLst/>
            <a:gdLst/>
            <a:ahLst/>
            <a:cxnLst/>
            <a:rect r="r" b="b" t="t" l="l"/>
            <a:pathLst>
              <a:path h="267548" w="267548">
                <a:moveTo>
                  <a:pt x="0" y="0"/>
                </a:moveTo>
                <a:lnTo>
                  <a:pt x="267548" y="0"/>
                </a:lnTo>
                <a:lnTo>
                  <a:pt x="267548" y="267548"/>
                </a:lnTo>
                <a:lnTo>
                  <a:pt x="0" y="267548"/>
                </a:lnTo>
                <a:lnTo>
                  <a:pt x="0" y="0"/>
                </a:lnTo>
                <a:close/>
              </a:path>
            </a:pathLst>
          </a:custGeom>
          <a:blipFill>
            <a:blip r:embed="rId4">
              <a:extLst>
                <a:ext uri="{96DAC541-7B7A-43D3-8B79-37D633B846F1}">
                  <asvg:svgBlip xmlns:asvg="http://schemas.microsoft.com/office/drawing/2016/SVG/main" r:embed="rId5"/>
                </a:ext>
              </a:extLst>
            </a:blip>
            <a:stretch>
              <a:fillRect l="0" t="-6895" r="0" b="-6895"/>
            </a:stretch>
          </a:blipFill>
        </p:spPr>
      </p:sp>
      <p:sp>
        <p:nvSpPr>
          <p:cNvPr name="TextBox 11" id="11"/>
          <p:cNvSpPr txBox="true"/>
          <p:nvPr/>
        </p:nvSpPr>
        <p:spPr>
          <a:xfrm rot="0">
            <a:off x="1050731" y="4029932"/>
            <a:ext cx="2303402" cy="344443"/>
          </a:xfrm>
          <a:prstGeom prst="rect">
            <a:avLst/>
          </a:prstGeom>
        </p:spPr>
        <p:txBody>
          <a:bodyPr anchor="t" rtlCol="false" tIns="0" lIns="0" bIns="0" rIns="0">
            <a:spAutoFit/>
          </a:bodyPr>
          <a:lstStyle/>
          <a:p>
            <a:pPr algn="l">
              <a:lnSpc>
                <a:spcPts val="2500"/>
              </a:lnSpc>
            </a:pPr>
            <a:r>
              <a:rPr lang="en-US" sz="2000" b="true">
                <a:solidFill>
                  <a:srgbClr val="272525"/>
                </a:solidFill>
                <a:latin typeface="Petrona Bold"/>
                <a:ea typeface="Petrona Bold"/>
                <a:cs typeface="Petrona Bold"/>
                <a:sym typeface="Petrona Bold"/>
              </a:rPr>
              <a:t>C++</a:t>
            </a:r>
          </a:p>
        </p:txBody>
      </p:sp>
      <p:sp>
        <p:nvSpPr>
          <p:cNvPr name="TextBox 12" id="12"/>
          <p:cNvSpPr txBox="true"/>
          <p:nvPr/>
        </p:nvSpPr>
        <p:spPr>
          <a:xfrm rot="0">
            <a:off x="1050731" y="4458519"/>
            <a:ext cx="2303402" cy="640432"/>
          </a:xfrm>
          <a:prstGeom prst="rect">
            <a:avLst/>
          </a:prstGeom>
        </p:spPr>
        <p:txBody>
          <a:bodyPr anchor="t" rtlCol="false" tIns="0" lIns="0" bIns="0" rIns="0">
            <a:spAutoFit/>
          </a:bodyPr>
          <a:lstStyle/>
          <a:p>
            <a:pPr algn="l">
              <a:lnSpc>
                <a:spcPts val="1625"/>
              </a:lnSpc>
            </a:pPr>
            <a:r>
              <a:rPr lang="en-US" sz="1437">
                <a:solidFill>
                  <a:srgbClr val="272525"/>
                </a:solidFill>
                <a:latin typeface="Inter"/>
                <a:ea typeface="Inter"/>
                <a:cs typeface="Inter"/>
                <a:sym typeface="Inter"/>
              </a:rPr>
              <a:t>Object-oriented extension of C with performance focus</a:t>
            </a:r>
          </a:p>
        </p:txBody>
      </p:sp>
      <p:sp>
        <p:nvSpPr>
          <p:cNvPr name="TextBox 13" id="13"/>
          <p:cNvSpPr txBox="true"/>
          <p:nvPr/>
        </p:nvSpPr>
        <p:spPr>
          <a:xfrm rot="0">
            <a:off x="8897007" y="4029932"/>
            <a:ext cx="2303402" cy="344443"/>
          </a:xfrm>
          <a:prstGeom prst="rect">
            <a:avLst/>
          </a:prstGeom>
        </p:spPr>
        <p:txBody>
          <a:bodyPr anchor="t" rtlCol="false" tIns="0" lIns="0" bIns="0" rIns="0">
            <a:spAutoFit/>
          </a:bodyPr>
          <a:lstStyle/>
          <a:p>
            <a:pPr algn="l">
              <a:lnSpc>
                <a:spcPts val="2500"/>
              </a:lnSpc>
            </a:pPr>
            <a:r>
              <a:rPr lang="en-US" sz="2000" b="true">
                <a:solidFill>
                  <a:srgbClr val="272525"/>
                </a:solidFill>
                <a:latin typeface="Petrona Bold"/>
                <a:ea typeface="Petrona Bold"/>
                <a:cs typeface="Petrona Bold"/>
                <a:sym typeface="Petrona Bold"/>
              </a:rPr>
              <a:t>Java</a:t>
            </a:r>
          </a:p>
        </p:txBody>
      </p:sp>
      <p:sp>
        <p:nvSpPr>
          <p:cNvPr name="TextBox 14" id="14"/>
          <p:cNvSpPr txBox="true"/>
          <p:nvPr/>
        </p:nvSpPr>
        <p:spPr>
          <a:xfrm rot="0">
            <a:off x="8897007" y="4458519"/>
            <a:ext cx="2303402" cy="640432"/>
          </a:xfrm>
          <a:prstGeom prst="rect">
            <a:avLst/>
          </a:prstGeom>
        </p:spPr>
        <p:txBody>
          <a:bodyPr anchor="t" rtlCol="false" tIns="0" lIns="0" bIns="0" rIns="0">
            <a:spAutoFit/>
          </a:bodyPr>
          <a:lstStyle/>
          <a:p>
            <a:pPr algn="l">
              <a:lnSpc>
                <a:spcPts val="1625"/>
              </a:lnSpc>
            </a:pPr>
            <a:r>
              <a:rPr lang="en-US" sz="1437">
                <a:solidFill>
                  <a:srgbClr val="272525"/>
                </a:solidFill>
                <a:latin typeface="Inter"/>
                <a:ea typeface="Inter"/>
                <a:cs typeface="Inter"/>
                <a:sym typeface="Inter"/>
              </a:rPr>
              <a:t>Platform-independent, OOP language influenced by C syntax</a:t>
            </a:r>
          </a:p>
        </p:txBody>
      </p:sp>
      <p:sp>
        <p:nvSpPr>
          <p:cNvPr name="Freeform 15" id="15" descr="preencoded.png"/>
          <p:cNvSpPr/>
          <p:nvPr/>
        </p:nvSpPr>
        <p:spPr>
          <a:xfrm flipH="false" flipV="false" rot="0">
            <a:off x="7249325" y="3806419"/>
            <a:ext cx="267548" cy="267548"/>
          </a:xfrm>
          <a:custGeom>
            <a:avLst/>
            <a:gdLst/>
            <a:ahLst/>
            <a:cxnLst/>
            <a:rect r="r" b="b" t="t" l="l"/>
            <a:pathLst>
              <a:path h="267548" w="267548">
                <a:moveTo>
                  <a:pt x="0" y="0"/>
                </a:moveTo>
                <a:lnTo>
                  <a:pt x="267548" y="0"/>
                </a:lnTo>
                <a:lnTo>
                  <a:pt x="267548" y="267547"/>
                </a:lnTo>
                <a:lnTo>
                  <a:pt x="0" y="267547"/>
                </a:lnTo>
                <a:lnTo>
                  <a:pt x="0" y="0"/>
                </a:lnTo>
                <a:close/>
              </a:path>
            </a:pathLst>
          </a:custGeom>
          <a:blipFill>
            <a:blip r:embed="rId6">
              <a:extLst>
                <a:ext uri="{96DAC541-7B7A-43D3-8B79-37D633B846F1}">
                  <asvg:svgBlip xmlns:asvg="http://schemas.microsoft.com/office/drawing/2016/SVG/main" r:embed="rId7"/>
                </a:ext>
              </a:extLst>
            </a:blip>
            <a:stretch>
              <a:fillRect l="-17241" t="0" r="-17241" b="0"/>
            </a:stretch>
          </a:blipFill>
        </p:spPr>
      </p:sp>
      <p:sp>
        <p:nvSpPr>
          <p:cNvPr name="Freeform 16" id="16" descr="preencoded.png"/>
          <p:cNvSpPr/>
          <p:nvPr/>
        </p:nvSpPr>
        <p:spPr>
          <a:xfrm flipH="false" flipV="false" rot="0">
            <a:off x="4209688" y="6539617"/>
            <a:ext cx="267548" cy="267548"/>
          </a:xfrm>
          <a:custGeom>
            <a:avLst/>
            <a:gdLst/>
            <a:ahLst/>
            <a:cxnLst/>
            <a:rect r="r" b="b" t="t" l="l"/>
            <a:pathLst>
              <a:path h="267548" w="267548">
                <a:moveTo>
                  <a:pt x="0" y="0"/>
                </a:moveTo>
                <a:lnTo>
                  <a:pt x="267548" y="0"/>
                </a:lnTo>
                <a:lnTo>
                  <a:pt x="267548" y="267548"/>
                </a:lnTo>
                <a:lnTo>
                  <a:pt x="0" y="267548"/>
                </a:lnTo>
                <a:lnTo>
                  <a:pt x="0" y="0"/>
                </a:lnTo>
                <a:close/>
              </a:path>
            </a:pathLst>
          </a:custGeom>
          <a:blipFill>
            <a:blip r:embed="rId8">
              <a:extLst>
                <a:ext uri="{96DAC541-7B7A-43D3-8B79-37D633B846F1}">
                  <asvg:svgBlip xmlns:asvg="http://schemas.microsoft.com/office/drawing/2016/SVG/main" r:embed="rId9"/>
                </a:ext>
              </a:extLst>
            </a:blip>
            <a:stretch>
              <a:fillRect l="0" t="-6895" r="0" b="-6895"/>
            </a:stretch>
          </a:blipFill>
        </p:spPr>
      </p:sp>
      <p:sp>
        <p:nvSpPr>
          <p:cNvPr name="TextBox 17" id="17"/>
          <p:cNvSpPr txBox="true"/>
          <p:nvPr/>
        </p:nvSpPr>
        <p:spPr>
          <a:xfrm rot="0">
            <a:off x="1050731" y="6363462"/>
            <a:ext cx="2303402" cy="344443"/>
          </a:xfrm>
          <a:prstGeom prst="rect">
            <a:avLst/>
          </a:prstGeom>
        </p:spPr>
        <p:txBody>
          <a:bodyPr anchor="t" rtlCol="false" tIns="0" lIns="0" bIns="0" rIns="0">
            <a:spAutoFit/>
          </a:bodyPr>
          <a:lstStyle/>
          <a:p>
            <a:pPr algn="l">
              <a:lnSpc>
                <a:spcPts val="2500"/>
              </a:lnSpc>
            </a:pPr>
            <a:r>
              <a:rPr lang="en-US" sz="2000" b="true">
                <a:solidFill>
                  <a:srgbClr val="272525"/>
                </a:solidFill>
                <a:latin typeface="Petrona Bold"/>
                <a:ea typeface="Petrona Bold"/>
                <a:cs typeface="Petrona Bold"/>
                <a:sym typeface="Petrona Bold"/>
              </a:rPr>
              <a:t>Python</a:t>
            </a:r>
          </a:p>
        </p:txBody>
      </p:sp>
      <p:sp>
        <p:nvSpPr>
          <p:cNvPr name="TextBox 18" id="18"/>
          <p:cNvSpPr txBox="true"/>
          <p:nvPr/>
        </p:nvSpPr>
        <p:spPr>
          <a:xfrm rot="0">
            <a:off x="1050731" y="6792049"/>
            <a:ext cx="2303402" cy="853916"/>
          </a:xfrm>
          <a:prstGeom prst="rect">
            <a:avLst/>
          </a:prstGeom>
        </p:spPr>
        <p:txBody>
          <a:bodyPr anchor="t" rtlCol="false" tIns="0" lIns="0" bIns="0" rIns="0">
            <a:spAutoFit/>
          </a:bodyPr>
          <a:lstStyle/>
          <a:p>
            <a:pPr algn="l">
              <a:lnSpc>
                <a:spcPts val="1625"/>
              </a:lnSpc>
            </a:pPr>
            <a:r>
              <a:rPr lang="en-US" sz="1437">
                <a:solidFill>
                  <a:srgbClr val="272525"/>
                </a:solidFill>
                <a:latin typeface="Inter"/>
                <a:ea typeface="Inter"/>
                <a:cs typeface="Inter"/>
                <a:sym typeface="Inter"/>
              </a:rPr>
              <a:t>High-level, readable language with C roots in syntax and implementation</a:t>
            </a:r>
          </a:p>
        </p:txBody>
      </p:sp>
      <p:sp>
        <p:nvSpPr>
          <p:cNvPr name="TextBox 19" id="19"/>
          <p:cNvSpPr txBox="true"/>
          <p:nvPr/>
        </p:nvSpPr>
        <p:spPr>
          <a:xfrm rot="0">
            <a:off x="8897007" y="6363462"/>
            <a:ext cx="2303402" cy="344443"/>
          </a:xfrm>
          <a:prstGeom prst="rect">
            <a:avLst/>
          </a:prstGeom>
        </p:spPr>
        <p:txBody>
          <a:bodyPr anchor="t" rtlCol="false" tIns="0" lIns="0" bIns="0" rIns="0">
            <a:spAutoFit/>
          </a:bodyPr>
          <a:lstStyle/>
          <a:p>
            <a:pPr algn="l">
              <a:lnSpc>
                <a:spcPts val="2500"/>
              </a:lnSpc>
            </a:pPr>
            <a:r>
              <a:rPr lang="en-US" sz="2000" b="true">
                <a:solidFill>
                  <a:srgbClr val="272525"/>
                </a:solidFill>
                <a:latin typeface="Petrona Bold"/>
                <a:ea typeface="Petrona Bold"/>
                <a:cs typeface="Petrona Bold"/>
                <a:sym typeface="Petrona Bold"/>
              </a:rPr>
              <a:t>JavaScript &amp; C#</a:t>
            </a:r>
          </a:p>
        </p:txBody>
      </p:sp>
      <p:sp>
        <p:nvSpPr>
          <p:cNvPr name="TextBox 20" id="20"/>
          <p:cNvSpPr txBox="true"/>
          <p:nvPr/>
        </p:nvSpPr>
        <p:spPr>
          <a:xfrm rot="0">
            <a:off x="8897007" y="6792049"/>
            <a:ext cx="2303402" cy="640432"/>
          </a:xfrm>
          <a:prstGeom prst="rect">
            <a:avLst/>
          </a:prstGeom>
        </p:spPr>
        <p:txBody>
          <a:bodyPr anchor="t" rtlCol="false" tIns="0" lIns="0" bIns="0" rIns="0">
            <a:spAutoFit/>
          </a:bodyPr>
          <a:lstStyle/>
          <a:p>
            <a:pPr algn="l">
              <a:lnSpc>
                <a:spcPts val="1625"/>
              </a:lnSpc>
            </a:pPr>
            <a:r>
              <a:rPr lang="en-US" sz="1437">
                <a:solidFill>
                  <a:srgbClr val="272525"/>
                </a:solidFill>
                <a:latin typeface="Inter"/>
                <a:ea typeface="Inter"/>
                <a:cs typeface="Inter"/>
                <a:sym typeface="Inter"/>
              </a:rPr>
              <a:t>Scripting and managed languages borrowing C-like syntax</a:t>
            </a:r>
          </a:p>
        </p:txBody>
      </p:sp>
      <p:sp>
        <p:nvSpPr>
          <p:cNvPr name="Freeform 21" id="21" descr="preencoded.png"/>
          <p:cNvSpPr/>
          <p:nvPr/>
        </p:nvSpPr>
        <p:spPr>
          <a:xfrm flipH="false" flipV="false" rot="0">
            <a:off x="7512272" y="7412603"/>
            <a:ext cx="267548" cy="267548"/>
          </a:xfrm>
          <a:custGeom>
            <a:avLst/>
            <a:gdLst/>
            <a:ahLst/>
            <a:cxnLst/>
            <a:rect r="r" b="b" t="t" l="l"/>
            <a:pathLst>
              <a:path h="267548" w="267548">
                <a:moveTo>
                  <a:pt x="0" y="0"/>
                </a:moveTo>
                <a:lnTo>
                  <a:pt x="267548" y="0"/>
                </a:lnTo>
                <a:lnTo>
                  <a:pt x="267548" y="267547"/>
                </a:lnTo>
                <a:lnTo>
                  <a:pt x="0" y="267547"/>
                </a:lnTo>
                <a:lnTo>
                  <a:pt x="0" y="0"/>
                </a:lnTo>
                <a:close/>
              </a:path>
            </a:pathLst>
          </a:custGeom>
          <a:blipFill>
            <a:blip r:embed="rId10">
              <a:extLst>
                <a:ext uri="{96DAC541-7B7A-43D3-8B79-37D633B846F1}">
                  <asvg:svgBlip xmlns:asvg="http://schemas.microsoft.com/office/drawing/2016/SVG/main" r:embed="rId11"/>
                </a:ext>
              </a:extLst>
            </a:blip>
            <a:stretch>
              <a:fillRect l="-1723" t="0" r="-1723" b="0"/>
            </a:stretch>
          </a:blipFill>
        </p:spPr>
      </p:sp>
      <p:grpSp>
        <p:nvGrpSpPr>
          <p:cNvPr name="Group 22" id="22"/>
          <p:cNvGrpSpPr/>
          <p:nvPr/>
        </p:nvGrpSpPr>
        <p:grpSpPr>
          <a:xfrm rot="0">
            <a:off x="11854605" y="2700785"/>
            <a:ext cx="5808459" cy="5945086"/>
            <a:chOff x="0" y="0"/>
            <a:chExt cx="7744612" cy="7926781"/>
          </a:xfrm>
        </p:grpSpPr>
        <p:sp>
          <p:nvSpPr>
            <p:cNvPr name="Freeform 23" id="23"/>
            <p:cNvSpPr/>
            <p:nvPr/>
          </p:nvSpPr>
          <p:spPr>
            <a:xfrm flipH="false" flipV="false" rot="0">
              <a:off x="0" y="0"/>
              <a:ext cx="7744714" cy="7926832"/>
            </a:xfrm>
            <a:custGeom>
              <a:avLst/>
              <a:gdLst/>
              <a:ahLst/>
              <a:cxnLst/>
              <a:rect r="r" b="b" t="t" l="l"/>
              <a:pathLst>
                <a:path h="7926832" w="7744714">
                  <a:moveTo>
                    <a:pt x="0" y="219075"/>
                  </a:moveTo>
                  <a:cubicBezTo>
                    <a:pt x="0" y="98044"/>
                    <a:pt x="98044" y="0"/>
                    <a:pt x="219075" y="0"/>
                  </a:cubicBezTo>
                  <a:lnTo>
                    <a:pt x="7525639" y="0"/>
                  </a:lnTo>
                  <a:cubicBezTo>
                    <a:pt x="7646543" y="0"/>
                    <a:pt x="7744714" y="98044"/>
                    <a:pt x="7744714" y="219075"/>
                  </a:cubicBezTo>
                  <a:lnTo>
                    <a:pt x="7744714" y="7707757"/>
                  </a:lnTo>
                  <a:cubicBezTo>
                    <a:pt x="7744714" y="7828661"/>
                    <a:pt x="7646670" y="7926832"/>
                    <a:pt x="7525639" y="7926832"/>
                  </a:cubicBezTo>
                  <a:lnTo>
                    <a:pt x="219075" y="7926832"/>
                  </a:lnTo>
                  <a:cubicBezTo>
                    <a:pt x="98044" y="7926832"/>
                    <a:pt x="0" y="7828788"/>
                    <a:pt x="0" y="7707757"/>
                  </a:cubicBezTo>
                  <a:close/>
                </a:path>
              </a:pathLst>
            </a:custGeom>
            <a:solidFill>
              <a:srgbClr val="6237C8"/>
            </a:solidFill>
          </p:spPr>
        </p:sp>
      </p:grpSp>
      <p:sp>
        <p:nvSpPr>
          <p:cNvPr name="TextBox 24" id="24"/>
          <p:cNvSpPr txBox="true"/>
          <p:nvPr/>
        </p:nvSpPr>
        <p:spPr>
          <a:xfrm rot="0">
            <a:off x="12082758" y="3110808"/>
            <a:ext cx="3495523" cy="420738"/>
          </a:xfrm>
          <a:prstGeom prst="rect">
            <a:avLst/>
          </a:prstGeom>
        </p:spPr>
        <p:txBody>
          <a:bodyPr anchor="t" rtlCol="false" tIns="0" lIns="0" bIns="0" rIns="0">
            <a:spAutoFit/>
          </a:bodyPr>
          <a:lstStyle/>
          <a:p>
            <a:pPr algn="l">
              <a:lnSpc>
                <a:spcPts val="3062"/>
              </a:lnSpc>
            </a:pPr>
            <a:r>
              <a:rPr lang="en-US" sz="2437" b="true">
                <a:solidFill>
                  <a:srgbClr val="FFFFFF"/>
                </a:solidFill>
                <a:latin typeface="Petrona Bold"/>
                <a:ea typeface="Petrona Bold"/>
                <a:cs typeface="Petrona Bold"/>
                <a:sym typeface="Petrona Bold"/>
              </a:rPr>
              <a:t>Educational Importance</a:t>
            </a:r>
          </a:p>
        </p:txBody>
      </p:sp>
      <p:sp>
        <p:nvSpPr>
          <p:cNvPr name="TextBox 25" id="25"/>
          <p:cNvSpPr txBox="true"/>
          <p:nvPr/>
        </p:nvSpPr>
        <p:spPr>
          <a:xfrm rot="0">
            <a:off x="12082758" y="3667420"/>
            <a:ext cx="5352155" cy="2353770"/>
          </a:xfrm>
          <a:prstGeom prst="rect">
            <a:avLst/>
          </a:prstGeom>
        </p:spPr>
        <p:txBody>
          <a:bodyPr anchor="t" rtlCol="false" tIns="0" lIns="0" bIns="0" rIns="0">
            <a:spAutoFit/>
          </a:bodyPr>
          <a:lstStyle/>
          <a:p>
            <a:pPr algn="l" marL="263922" indent="-131961" lvl="1">
              <a:lnSpc>
                <a:spcPts val="2562"/>
              </a:lnSpc>
              <a:buFont typeface="Arial"/>
              <a:buChar char="•"/>
            </a:pPr>
            <a:r>
              <a:rPr lang="en-US" sz="1750">
                <a:solidFill>
                  <a:srgbClr val="FFFFFF"/>
                </a:solidFill>
                <a:latin typeface="Inter"/>
                <a:ea typeface="Inter"/>
                <a:cs typeface="Inter"/>
                <a:sym typeface="Inter"/>
              </a:rPr>
              <a:t>Teaches fundamental programming concepts: variables, control structures, functions, and data structures</a:t>
            </a:r>
          </a:p>
          <a:p>
            <a:pPr algn="l" marL="263922" indent="-131961" lvl="1">
              <a:lnSpc>
                <a:spcPts val="2562"/>
              </a:lnSpc>
              <a:buFont typeface="Arial"/>
              <a:buChar char="•"/>
            </a:pPr>
            <a:r>
              <a:rPr lang="en-US" sz="1750">
                <a:solidFill>
                  <a:srgbClr val="FFFFFF"/>
                </a:solidFill>
                <a:latin typeface="Inter"/>
                <a:ea typeface="Inter"/>
                <a:cs typeface="Inter"/>
                <a:sym typeface="Inter"/>
              </a:rPr>
              <a:t>Provides deep understanding of memory management and computer architecture</a:t>
            </a:r>
          </a:p>
          <a:p>
            <a:pPr algn="l" marL="263922" indent="-131961" lvl="1">
              <a:lnSpc>
                <a:spcPts val="2562"/>
              </a:lnSpc>
              <a:buFont typeface="Arial"/>
              <a:buChar char="•"/>
            </a:pPr>
            <a:r>
              <a:rPr lang="en-US" sz="1750">
                <a:solidFill>
                  <a:srgbClr val="FFFFFF"/>
                </a:solidFill>
                <a:latin typeface="Inter"/>
                <a:ea typeface="Inter"/>
                <a:cs typeface="Inter"/>
                <a:sym typeface="Inter"/>
              </a:rPr>
              <a:t>Forms the foundation for learning advanced languages like C++, Java, and Python</a:t>
            </a:r>
          </a:p>
        </p:txBody>
      </p:sp>
      <p:sp>
        <p:nvSpPr>
          <p:cNvPr name="TextBox 26" id="26"/>
          <p:cNvSpPr txBox="true"/>
          <p:nvPr/>
        </p:nvSpPr>
        <p:spPr>
          <a:xfrm rot="0">
            <a:off x="12082758" y="6176124"/>
            <a:ext cx="3145041" cy="420738"/>
          </a:xfrm>
          <a:prstGeom prst="rect">
            <a:avLst/>
          </a:prstGeom>
        </p:spPr>
        <p:txBody>
          <a:bodyPr anchor="t" rtlCol="false" tIns="0" lIns="0" bIns="0" rIns="0">
            <a:spAutoFit/>
          </a:bodyPr>
          <a:lstStyle/>
          <a:p>
            <a:pPr algn="l">
              <a:lnSpc>
                <a:spcPts val="3062"/>
              </a:lnSpc>
            </a:pPr>
            <a:r>
              <a:rPr lang="en-US" sz="2437" b="true">
                <a:solidFill>
                  <a:srgbClr val="FFFFFF"/>
                </a:solidFill>
                <a:latin typeface="Petrona Bold"/>
                <a:ea typeface="Petrona Bold"/>
                <a:cs typeface="Petrona Bold"/>
                <a:sym typeface="Petrona Bold"/>
              </a:rPr>
              <a:t>Practical Significance</a:t>
            </a:r>
          </a:p>
        </p:txBody>
      </p:sp>
      <p:sp>
        <p:nvSpPr>
          <p:cNvPr name="TextBox 27" id="27"/>
          <p:cNvSpPr txBox="true"/>
          <p:nvPr/>
        </p:nvSpPr>
        <p:spPr>
          <a:xfrm rot="0">
            <a:off x="12082758" y="6732746"/>
            <a:ext cx="5352155" cy="1365047"/>
          </a:xfrm>
          <a:prstGeom prst="rect">
            <a:avLst/>
          </a:prstGeom>
        </p:spPr>
        <p:txBody>
          <a:bodyPr anchor="t" rtlCol="false" tIns="0" lIns="0" bIns="0" rIns="0">
            <a:spAutoFit/>
          </a:bodyPr>
          <a:lstStyle/>
          <a:p>
            <a:pPr algn="l">
              <a:lnSpc>
                <a:spcPts val="2562"/>
              </a:lnSpc>
            </a:pPr>
            <a:r>
              <a:rPr lang="en-US" sz="1750">
                <a:solidFill>
                  <a:srgbClr val="FFFFFF"/>
                </a:solidFill>
                <a:latin typeface="Inter"/>
                <a:ea typeface="Inter"/>
                <a:cs typeface="Inter"/>
                <a:sym typeface="Inter"/>
              </a:rPr>
              <a:t>C remains essential for operating systems (UNIX, Linux, Windows kernels), embedded systems, IoT devices, compilers, and performance-critical applications where efficiency matters most.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2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DFAF7"/>
            </a:solidFill>
          </p:spPr>
        </p:sp>
      </p:grpSp>
      <p:grpSp>
        <p:nvGrpSpPr>
          <p:cNvPr name="Group 6" id="6"/>
          <p:cNvGrpSpPr/>
          <p:nvPr/>
        </p:nvGrpSpPr>
        <p:grpSpPr>
          <a:xfrm rot="0">
            <a:off x="1143000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47265" y="2252072"/>
            <a:ext cx="9165136" cy="762591"/>
          </a:xfrm>
          <a:prstGeom prst="rect">
            <a:avLst/>
          </a:prstGeom>
        </p:spPr>
        <p:txBody>
          <a:bodyPr anchor="t" rtlCol="false" tIns="0" lIns="0" bIns="0" rIns="0">
            <a:spAutoFit/>
          </a:bodyPr>
          <a:lstStyle/>
          <a:p>
            <a:pPr algn="l">
              <a:lnSpc>
                <a:spcPts val="5750"/>
              </a:lnSpc>
            </a:pPr>
            <a:r>
              <a:rPr lang="en-US" sz="4562" b="true">
                <a:solidFill>
                  <a:srgbClr val="F95F88"/>
                </a:solidFill>
                <a:latin typeface="Petrona Bold"/>
                <a:ea typeface="Petrona Bold"/>
                <a:cs typeface="Petrona Bold"/>
                <a:sym typeface="Petrona Bold"/>
              </a:rPr>
              <a:t>C Programming in Our Daily Lives</a:t>
            </a:r>
          </a:p>
        </p:txBody>
      </p:sp>
      <p:grpSp>
        <p:nvGrpSpPr>
          <p:cNvPr name="Group 9" id="9"/>
          <p:cNvGrpSpPr/>
          <p:nvPr/>
        </p:nvGrpSpPr>
        <p:grpSpPr>
          <a:xfrm rot="0">
            <a:off x="732977" y="3241472"/>
            <a:ext cx="4915938" cy="2473223"/>
            <a:chOff x="0" y="0"/>
            <a:chExt cx="6554584" cy="3297631"/>
          </a:xfrm>
        </p:grpSpPr>
        <p:sp>
          <p:nvSpPr>
            <p:cNvPr name="Freeform 10" id="10"/>
            <p:cNvSpPr/>
            <p:nvPr/>
          </p:nvSpPr>
          <p:spPr>
            <a:xfrm flipH="false" flipV="false" rot="0">
              <a:off x="19050" y="19050"/>
              <a:ext cx="6516370" cy="3259582"/>
            </a:xfrm>
            <a:custGeom>
              <a:avLst/>
              <a:gdLst/>
              <a:ahLst/>
              <a:cxnLst/>
              <a:rect r="r" b="b" t="t" l="l"/>
              <a:pathLst>
                <a:path h="3259582" w="6516370">
                  <a:moveTo>
                    <a:pt x="0" y="182880"/>
                  </a:moveTo>
                  <a:cubicBezTo>
                    <a:pt x="0" y="81915"/>
                    <a:pt x="82296" y="0"/>
                    <a:pt x="183896" y="0"/>
                  </a:cubicBezTo>
                  <a:lnTo>
                    <a:pt x="6332474" y="0"/>
                  </a:lnTo>
                  <a:cubicBezTo>
                    <a:pt x="6434074" y="0"/>
                    <a:pt x="6516370" y="81915"/>
                    <a:pt x="6516370" y="182880"/>
                  </a:cubicBezTo>
                  <a:lnTo>
                    <a:pt x="6516370" y="3076702"/>
                  </a:lnTo>
                  <a:cubicBezTo>
                    <a:pt x="6516370" y="3177667"/>
                    <a:pt x="6434074" y="3259582"/>
                    <a:pt x="6332474" y="3259582"/>
                  </a:cubicBezTo>
                  <a:lnTo>
                    <a:pt x="183896" y="3259582"/>
                  </a:lnTo>
                  <a:cubicBezTo>
                    <a:pt x="82296" y="3259582"/>
                    <a:pt x="0" y="3177667"/>
                    <a:pt x="0" y="3076702"/>
                  </a:cubicBezTo>
                  <a:close/>
                </a:path>
              </a:pathLst>
            </a:custGeom>
            <a:solidFill>
              <a:srgbClr val="FDFAF7"/>
            </a:solidFill>
          </p:spPr>
        </p:sp>
        <p:sp>
          <p:nvSpPr>
            <p:cNvPr name="Freeform 11" id="11"/>
            <p:cNvSpPr/>
            <p:nvPr/>
          </p:nvSpPr>
          <p:spPr>
            <a:xfrm flipH="false" flipV="false" rot="0">
              <a:off x="0" y="0"/>
              <a:ext cx="6554470" cy="3297682"/>
            </a:xfrm>
            <a:custGeom>
              <a:avLst/>
              <a:gdLst/>
              <a:ahLst/>
              <a:cxnLst/>
              <a:rect r="r" b="b" t="t" l="l"/>
              <a:pathLst>
                <a:path h="3297682" w="6554470">
                  <a:moveTo>
                    <a:pt x="0" y="201930"/>
                  </a:moveTo>
                  <a:cubicBezTo>
                    <a:pt x="0" y="90297"/>
                    <a:pt x="90932" y="0"/>
                    <a:pt x="202946" y="0"/>
                  </a:cubicBezTo>
                  <a:lnTo>
                    <a:pt x="6351524" y="0"/>
                  </a:lnTo>
                  <a:lnTo>
                    <a:pt x="6351524" y="19050"/>
                  </a:lnTo>
                  <a:lnTo>
                    <a:pt x="6351524" y="0"/>
                  </a:lnTo>
                  <a:cubicBezTo>
                    <a:pt x="6463538" y="0"/>
                    <a:pt x="6554470" y="90297"/>
                    <a:pt x="6554470" y="201930"/>
                  </a:cubicBezTo>
                  <a:lnTo>
                    <a:pt x="6535420" y="201930"/>
                  </a:lnTo>
                  <a:lnTo>
                    <a:pt x="6554470" y="201930"/>
                  </a:lnTo>
                  <a:lnTo>
                    <a:pt x="6554470" y="3095752"/>
                  </a:lnTo>
                  <a:lnTo>
                    <a:pt x="6535420" y="3095752"/>
                  </a:lnTo>
                  <a:lnTo>
                    <a:pt x="6554470" y="3095752"/>
                  </a:lnTo>
                  <a:cubicBezTo>
                    <a:pt x="6554470" y="3207385"/>
                    <a:pt x="6463538" y="3297682"/>
                    <a:pt x="6351524" y="3297682"/>
                  </a:cubicBezTo>
                  <a:lnTo>
                    <a:pt x="6351524" y="3278632"/>
                  </a:lnTo>
                  <a:lnTo>
                    <a:pt x="6351524" y="3297682"/>
                  </a:lnTo>
                  <a:lnTo>
                    <a:pt x="202946" y="3297682"/>
                  </a:lnTo>
                  <a:lnTo>
                    <a:pt x="202946" y="3278632"/>
                  </a:lnTo>
                  <a:lnTo>
                    <a:pt x="202946" y="3297682"/>
                  </a:lnTo>
                  <a:cubicBezTo>
                    <a:pt x="90932" y="3297682"/>
                    <a:pt x="0" y="3207385"/>
                    <a:pt x="0" y="3095752"/>
                  </a:cubicBezTo>
                  <a:lnTo>
                    <a:pt x="0" y="201930"/>
                  </a:lnTo>
                  <a:lnTo>
                    <a:pt x="19050" y="201930"/>
                  </a:lnTo>
                  <a:lnTo>
                    <a:pt x="0" y="201930"/>
                  </a:lnTo>
                  <a:moveTo>
                    <a:pt x="38100" y="201930"/>
                  </a:moveTo>
                  <a:lnTo>
                    <a:pt x="38100" y="3095752"/>
                  </a:lnTo>
                  <a:lnTo>
                    <a:pt x="19050" y="3095752"/>
                  </a:lnTo>
                  <a:lnTo>
                    <a:pt x="38100" y="3095752"/>
                  </a:lnTo>
                  <a:cubicBezTo>
                    <a:pt x="38100" y="3186176"/>
                    <a:pt x="111887" y="3259582"/>
                    <a:pt x="202946" y="3259582"/>
                  </a:cubicBezTo>
                  <a:lnTo>
                    <a:pt x="6351524" y="3259582"/>
                  </a:lnTo>
                  <a:cubicBezTo>
                    <a:pt x="6442710" y="3259582"/>
                    <a:pt x="6516370" y="3186176"/>
                    <a:pt x="6516370" y="3095752"/>
                  </a:cubicBezTo>
                  <a:lnTo>
                    <a:pt x="6516370" y="201930"/>
                  </a:lnTo>
                  <a:cubicBezTo>
                    <a:pt x="6516370" y="111506"/>
                    <a:pt x="6442583" y="38100"/>
                    <a:pt x="6351524" y="38100"/>
                  </a:cubicBezTo>
                  <a:lnTo>
                    <a:pt x="202946" y="38100"/>
                  </a:lnTo>
                  <a:lnTo>
                    <a:pt x="202946" y="19050"/>
                  </a:lnTo>
                  <a:lnTo>
                    <a:pt x="202946" y="38100"/>
                  </a:lnTo>
                  <a:cubicBezTo>
                    <a:pt x="111887" y="38100"/>
                    <a:pt x="38100" y="111506"/>
                    <a:pt x="38100" y="201930"/>
                  </a:cubicBezTo>
                  <a:close/>
                </a:path>
              </a:pathLst>
            </a:custGeom>
            <a:solidFill>
              <a:srgbClr val="C6BDDA"/>
            </a:solidFill>
          </p:spPr>
        </p:sp>
      </p:grpSp>
      <p:grpSp>
        <p:nvGrpSpPr>
          <p:cNvPr name="Group 12" id="12"/>
          <p:cNvGrpSpPr/>
          <p:nvPr/>
        </p:nvGrpSpPr>
        <p:grpSpPr>
          <a:xfrm rot="0">
            <a:off x="718690" y="3255759"/>
            <a:ext cx="114300" cy="2444648"/>
            <a:chOff x="0" y="0"/>
            <a:chExt cx="152400" cy="3259531"/>
          </a:xfrm>
        </p:grpSpPr>
        <p:sp>
          <p:nvSpPr>
            <p:cNvPr name="Freeform 13" id="13"/>
            <p:cNvSpPr/>
            <p:nvPr/>
          </p:nvSpPr>
          <p:spPr>
            <a:xfrm flipH="false" flipV="false" rot="0">
              <a:off x="0" y="0"/>
              <a:ext cx="152400" cy="3259582"/>
            </a:xfrm>
            <a:custGeom>
              <a:avLst/>
              <a:gdLst/>
              <a:ahLst/>
              <a:cxnLst/>
              <a:rect r="r" b="b" t="t" l="l"/>
              <a:pathLst>
                <a:path h="3259582" w="152400">
                  <a:moveTo>
                    <a:pt x="0" y="76200"/>
                  </a:moveTo>
                  <a:cubicBezTo>
                    <a:pt x="0" y="34163"/>
                    <a:pt x="34163" y="0"/>
                    <a:pt x="76200" y="0"/>
                  </a:cubicBezTo>
                  <a:cubicBezTo>
                    <a:pt x="118237" y="0"/>
                    <a:pt x="152400" y="34163"/>
                    <a:pt x="152400" y="76200"/>
                  </a:cubicBezTo>
                  <a:lnTo>
                    <a:pt x="152400" y="3183382"/>
                  </a:lnTo>
                  <a:cubicBezTo>
                    <a:pt x="152400" y="3225419"/>
                    <a:pt x="118237" y="3259582"/>
                    <a:pt x="76200" y="3259582"/>
                  </a:cubicBezTo>
                  <a:cubicBezTo>
                    <a:pt x="34163" y="3259582"/>
                    <a:pt x="0" y="3225419"/>
                    <a:pt x="0" y="3183382"/>
                  </a:cubicBezTo>
                  <a:close/>
                </a:path>
              </a:pathLst>
            </a:custGeom>
            <a:solidFill>
              <a:srgbClr val="6237C8"/>
            </a:solidFill>
          </p:spPr>
        </p:sp>
      </p:grpSp>
      <p:sp>
        <p:nvSpPr>
          <p:cNvPr name="TextBox 14" id="14"/>
          <p:cNvSpPr txBox="true"/>
          <p:nvPr/>
        </p:nvSpPr>
        <p:spPr>
          <a:xfrm rot="0">
            <a:off x="1074982" y="3478711"/>
            <a:ext cx="2936081" cy="386058"/>
          </a:xfrm>
          <a:prstGeom prst="rect">
            <a:avLst/>
          </a:prstGeom>
        </p:spPr>
        <p:txBody>
          <a:bodyPr anchor="t" rtlCol="false" tIns="0" lIns="0" bIns="0" rIns="0">
            <a:spAutoFit/>
          </a:bodyPr>
          <a:lstStyle/>
          <a:p>
            <a:pPr algn="l">
              <a:lnSpc>
                <a:spcPts val="2875"/>
              </a:lnSpc>
            </a:pPr>
            <a:r>
              <a:rPr lang="en-US" sz="2249" b="true">
                <a:solidFill>
                  <a:srgbClr val="272525"/>
                </a:solidFill>
                <a:latin typeface="Petrona Bold"/>
                <a:ea typeface="Petrona Bold"/>
                <a:cs typeface="Petrona Bold"/>
                <a:sym typeface="Petrona Bold"/>
              </a:rPr>
              <a:t>Operating Systems</a:t>
            </a:r>
          </a:p>
        </p:txBody>
      </p:sp>
      <p:sp>
        <p:nvSpPr>
          <p:cNvPr name="TextBox 15" id="15"/>
          <p:cNvSpPr txBox="true"/>
          <p:nvPr/>
        </p:nvSpPr>
        <p:spPr>
          <a:xfrm rot="0">
            <a:off x="1074982" y="3913584"/>
            <a:ext cx="4317654" cy="1544841"/>
          </a:xfrm>
          <a:prstGeom prst="rect">
            <a:avLst/>
          </a:prstGeom>
        </p:spPr>
        <p:txBody>
          <a:bodyPr anchor="t" rtlCol="false" tIns="0" lIns="0" bIns="0" rIns="0">
            <a:spAutoFit/>
          </a:bodyPr>
          <a:lstStyle/>
          <a:p>
            <a:pPr algn="l">
              <a:lnSpc>
                <a:spcPts val="2312"/>
              </a:lnSpc>
            </a:pPr>
            <a:r>
              <a:rPr lang="en-US" sz="1625">
                <a:solidFill>
                  <a:srgbClr val="272525"/>
                </a:solidFill>
                <a:latin typeface="Inter"/>
                <a:ea typeface="Inter"/>
                <a:cs typeface="Inter"/>
                <a:sym typeface="Inter"/>
              </a:rPr>
              <a:t>Every time you use Windows, macOS, Linux, or Android, you're running software built with C. The core kernels and system utilities are written in C for maximum performance.</a:t>
            </a:r>
          </a:p>
        </p:txBody>
      </p:sp>
      <p:grpSp>
        <p:nvGrpSpPr>
          <p:cNvPr name="Group 16" id="16"/>
          <p:cNvGrpSpPr/>
          <p:nvPr/>
        </p:nvGrpSpPr>
        <p:grpSpPr>
          <a:xfrm rot="0">
            <a:off x="5781084" y="3241472"/>
            <a:ext cx="4915938" cy="2473223"/>
            <a:chOff x="0" y="0"/>
            <a:chExt cx="6554584" cy="3297631"/>
          </a:xfrm>
        </p:grpSpPr>
        <p:sp>
          <p:nvSpPr>
            <p:cNvPr name="Freeform 17" id="17"/>
            <p:cNvSpPr/>
            <p:nvPr/>
          </p:nvSpPr>
          <p:spPr>
            <a:xfrm flipH="false" flipV="false" rot="0">
              <a:off x="19050" y="19050"/>
              <a:ext cx="6516370" cy="3259582"/>
            </a:xfrm>
            <a:custGeom>
              <a:avLst/>
              <a:gdLst/>
              <a:ahLst/>
              <a:cxnLst/>
              <a:rect r="r" b="b" t="t" l="l"/>
              <a:pathLst>
                <a:path h="3259582" w="6516370">
                  <a:moveTo>
                    <a:pt x="0" y="182880"/>
                  </a:moveTo>
                  <a:cubicBezTo>
                    <a:pt x="0" y="81915"/>
                    <a:pt x="82296" y="0"/>
                    <a:pt x="183896" y="0"/>
                  </a:cubicBezTo>
                  <a:lnTo>
                    <a:pt x="6332474" y="0"/>
                  </a:lnTo>
                  <a:cubicBezTo>
                    <a:pt x="6434074" y="0"/>
                    <a:pt x="6516370" y="81915"/>
                    <a:pt x="6516370" y="182880"/>
                  </a:cubicBezTo>
                  <a:lnTo>
                    <a:pt x="6516370" y="3076702"/>
                  </a:lnTo>
                  <a:cubicBezTo>
                    <a:pt x="6516370" y="3177667"/>
                    <a:pt x="6434074" y="3259582"/>
                    <a:pt x="6332474" y="3259582"/>
                  </a:cubicBezTo>
                  <a:lnTo>
                    <a:pt x="183896" y="3259582"/>
                  </a:lnTo>
                  <a:cubicBezTo>
                    <a:pt x="82296" y="3259582"/>
                    <a:pt x="0" y="3177667"/>
                    <a:pt x="0" y="3076702"/>
                  </a:cubicBezTo>
                  <a:close/>
                </a:path>
              </a:pathLst>
            </a:custGeom>
            <a:solidFill>
              <a:srgbClr val="FDFAF7"/>
            </a:solidFill>
          </p:spPr>
        </p:sp>
        <p:sp>
          <p:nvSpPr>
            <p:cNvPr name="Freeform 18" id="18"/>
            <p:cNvSpPr/>
            <p:nvPr/>
          </p:nvSpPr>
          <p:spPr>
            <a:xfrm flipH="false" flipV="false" rot="0">
              <a:off x="0" y="0"/>
              <a:ext cx="6554470" cy="3297682"/>
            </a:xfrm>
            <a:custGeom>
              <a:avLst/>
              <a:gdLst/>
              <a:ahLst/>
              <a:cxnLst/>
              <a:rect r="r" b="b" t="t" l="l"/>
              <a:pathLst>
                <a:path h="3297682" w="6554470">
                  <a:moveTo>
                    <a:pt x="0" y="201930"/>
                  </a:moveTo>
                  <a:cubicBezTo>
                    <a:pt x="0" y="90297"/>
                    <a:pt x="90932" y="0"/>
                    <a:pt x="202946" y="0"/>
                  </a:cubicBezTo>
                  <a:lnTo>
                    <a:pt x="6351524" y="0"/>
                  </a:lnTo>
                  <a:lnTo>
                    <a:pt x="6351524" y="19050"/>
                  </a:lnTo>
                  <a:lnTo>
                    <a:pt x="6351524" y="0"/>
                  </a:lnTo>
                  <a:cubicBezTo>
                    <a:pt x="6463538" y="0"/>
                    <a:pt x="6554470" y="90297"/>
                    <a:pt x="6554470" y="201930"/>
                  </a:cubicBezTo>
                  <a:lnTo>
                    <a:pt x="6535420" y="201930"/>
                  </a:lnTo>
                  <a:lnTo>
                    <a:pt x="6554470" y="201930"/>
                  </a:lnTo>
                  <a:lnTo>
                    <a:pt x="6554470" y="3095752"/>
                  </a:lnTo>
                  <a:lnTo>
                    <a:pt x="6535420" y="3095752"/>
                  </a:lnTo>
                  <a:lnTo>
                    <a:pt x="6554470" y="3095752"/>
                  </a:lnTo>
                  <a:cubicBezTo>
                    <a:pt x="6554470" y="3207385"/>
                    <a:pt x="6463538" y="3297682"/>
                    <a:pt x="6351524" y="3297682"/>
                  </a:cubicBezTo>
                  <a:lnTo>
                    <a:pt x="6351524" y="3278632"/>
                  </a:lnTo>
                  <a:lnTo>
                    <a:pt x="6351524" y="3297682"/>
                  </a:lnTo>
                  <a:lnTo>
                    <a:pt x="202946" y="3297682"/>
                  </a:lnTo>
                  <a:lnTo>
                    <a:pt x="202946" y="3278632"/>
                  </a:lnTo>
                  <a:lnTo>
                    <a:pt x="202946" y="3297682"/>
                  </a:lnTo>
                  <a:cubicBezTo>
                    <a:pt x="90932" y="3297682"/>
                    <a:pt x="0" y="3207385"/>
                    <a:pt x="0" y="3095752"/>
                  </a:cubicBezTo>
                  <a:lnTo>
                    <a:pt x="0" y="201930"/>
                  </a:lnTo>
                  <a:lnTo>
                    <a:pt x="19050" y="201930"/>
                  </a:lnTo>
                  <a:lnTo>
                    <a:pt x="0" y="201930"/>
                  </a:lnTo>
                  <a:moveTo>
                    <a:pt x="38100" y="201930"/>
                  </a:moveTo>
                  <a:lnTo>
                    <a:pt x="38100" y="3095752"/>
                  </a:lnTo>
                  <a:lnTo>
                    <a:pt x="19050" y="3095752"/>
                  </a:lnTo>
                  <a:lnTo>
                    <a:pt x="38100" y="3095752"/>
                  </a:lnTo>
                  <a:cubicBezTo>
                    <a:pt x="38100" y="3186176"/>
                    <a:pt x="111887" y="3259582"/>
                    <a:pt x="202946" y="3259582"/>
                  </a:cubicBezTo>
                  <a:lnTo>
                    <a:pt x="6351524" y="3259582"/>
                  </a:lnTo>
                  <a:cubicBezTo>
                    <a:pt x="6442710" y="3259582"/>
                    <a:pt x="6516370" y="3186176"/>
                    <a:pt x="6516370" y="3095752"/>
                  </a:cubicBezTo>
                  <a:lnTo>
                    <a:pt x="6516370" y="201930"/>
                  </a:lnTo>
                  <a:cubicBezTo>
                    <a:pt x="6516370" y="111506"/>
                    <a:pt x="6442583" y="38100"/>
                    <a:pt x="6351524" y="38100"/>
                  </a:cubicBezTo>
                  <a:lnTo>
                    <a:pt x="202946" y="38100"/>
                  </a:lnTo>
                  <a:lnTo>
                    <a:pt x="202946" y="19050"/>
                  </a:lnTo>
                  <a:lnTo>
                    <a:pt x="202946" y="38100"/>
                  </a:lnTo>
                  <a:cubicBezTo>
                    <a:pt x="111887" y="38100"/>
                    <a:pt x="38100" y="111506"/>
                    <a:pt x="38100" y="201930"/>
                  </a:cubicBezTo>
                  <a:close/>
                </a:path>
              </a:pathLst>
            </a:custGeom>
            <a:solidFill>
              <a:srgbClr val="C6BDDA"/>
            </a:solidFill>
          </p:spPr>
        </p:sp>
      </p:grpSp>
      <p:grpSp>
        <p:nvGrpSpPr>
          <p:cNvPr name="Group 19" id="19"/>
          <p:cNvGrpSpPr/>
          <p:nvPr/>
        </p:nvGrpSpPr>
        <p:grpSpPr>
          <a:xfrm rot="0">
            <a:off x="5766797" y="3255759"/>
            <a:ext cx="114300" cy="2444648"/>
            <a:chOff x="0" y="0"/>
            <a:chExt cx="152400" cy="3259531"/>
          </a:xfrm>
        </p:grpSpPr>
        <p:sp>
          <p:nvSpPr>
            <p:cNvPr name="Freeform 20" id="20"/>
            <p:cNvSpPr/>
            <p:nvPr/>
          </p:nvSpPr>
          <p:spPr>
            <a:xfrm flipH="false" flipV="false" rot="0">
              <a:off x="0" y="0"/>
              <a:ext cx="152400" cy="3259582"/>
            </a:xfrm>
            <a:custGeom>
              <a:avLst/>
              <a:gdLst/>
              <a:ahLst/>
              <a:cxnLst/>
              <a:rect r="r" b="b" t="t" l="l"/>
              <a:pathLst>
                <a:path h="3259582" w="152400">
                  <a:moveTo>
                    <a:pt x="0" y="76200"/>
                  </a:moveTo>
                  <a:cubicBezTo>
                    <a:pt x="0" y="34163"/>
                    <a:pt x="34163" y="0"/>
                    <a:pt x="76200" y="0"/>
                  </a:cubicBezTo>
                  <a:cubicBezTo>
                    <a:pt x="118237" y="0"/>
                    <a:pt x="152400" y="34163"/>
                    <a:pt x="152400" y="76200"/>
                  </a:cubicBezTo>
                  <a:lnTo>
                    <a:pt x="152400" y="3183382"/>
                  </a:lnTo>
                  <a:cubicBezTo>
                    <a:pt x="152400" y="3225419"/>
                    <a:pt x="118237" y="3259582"/>
                    <a:pt x="76200" y="3259582"/>
                  </a:cubicBezTo>
                  <a:cubicBezTo>
                    <a:pt x="34163" y="3259582"/>
                    <a:pt x="0" y="3225419"/>
                    <a:pt x="0" y="3183382"/>
                  </a:cubicBezTo>
                  <a:close/>
                </a:path>
              </a:pathLst>
            </a:custGeom>
            <a:solidFill>
              <a:srgbClr val="6237C8"/>
            </a:solidFill>
          </p:spPr>
        </p:sp>
      </p:grpSp>
      <p:sp>
        <p:nvSpPr>
          <p:cNvPr name="TextBox 21" id="21"/>
          <p:cNvSpPr txBox="true"/>
          <p:nvPr/>
        </p:nvSpPr>
        <p:spPr>
          <a:xfrm rot="0">
            <a:off x="6123089" y="3478711"/>
            <a:ext cx="2936081" cy="386058"/>
          </a:xfrm>
          <a:prstGeom prst="rect">
            <a:avLst/>
          </a:prstGeom>
        </p:spPr>
        <p:txBody>
          <a:bodyPr anchor="t" rtlCol="false" tIns="0" lIns="0" bIns="0" rIns="0">
            <a:spAutoFit/>
          </a:bodyPr>
          <a:lstStyle/>
          <a:p>
            <a:pPr algn="l">
              <a:lnSpc>
                <a:spcPts val="2875"/>
              </a:lnSpc>
            </a:pPr>
            <a:r>
              <a:rPr lang="en-US" sz="2249" b="true">
                <a:solidFill>
                  <a:srgbClr val="272525"/>
                </a:solidFill>
                <a:latin typeface="Petrona Bold"/>
                <a:ea typeface="Petrona Bold"/>
                <a:cs typeface="Petrona Bold"/>
                <a:sym typeface="Petrona Bold"/>
              </a:rPr>
              <a:t>Embedded Systems</a:t>
            </a:r>
          </a:p>
        </p:txBody>
      </p:sp>
      <p:sp>
        <p:nvSpPr>
          <p:cNvPr name="TextBox 22" id="22"/>
          <p:cNvSpPr txBox="true"/>
          <p:nvPr/>
        </p:nvSpPr>
        <p:spPr>
          <a:xfrm rot="0">
            <a:off x="6123089" y="3913584"/>
            <a:ext cx="4317654" cy="1544841"/>
          </a:xfrm>
          <a:prstGeom prst="rect">
            <a:avLst/>
          </a:prstGeom>
        </p:spPr>
        <p:txBody>
          <a:bodyPr anchor="t" rtlCol="false" tIns="0" lIns="0" bIns="0" rIns="0">
            <a:spAutoFit/>
          </a:bodyPr>
          <a:lstStyle/>
          <a:p>
            <a:pPr algn="l">
              <a:lnSpc>
                <a:spcPts val="2312"/>
              </a:lnSpc>
            </a:pPr>
            <a:r>
              <a:rPr lang="en-US" sz="1625">
                <a:solidFill>
                  <a:srgbClr val="272525"/>
                </a:solidFill>
                <a:latin typeface="Inter"/>
                <a:ea typeface="Inter"/>
                <a:cs typeface="Inter"/>
                <a:sym typeface="Inter"/>
              </a:rPr>
              <a:t>From smart televisions and washing machines to automotive systems and medical devices, C powers the embedded software controlling billions of everyday gadgets.</a:t>
            </a:r>
          </a:p>
        </p:txBody>
      </p:sp>
      <p:grpSp>
        <p:nvGrpSpPr>
          <p:cNvPr name="Group 23" id="23"/>
          <p:cNvGrpSpPr/>
          <p:nvPr/>
        </p:nvGrpSpPr>
        <p:grpSpPr>
          <a:xfrm rot="0">
            <a:off x="732977" y="5846864"/>
            <a:ext cx="4915938" cy="2173786"/>
            <a:chOff x="0" y="0"/>
            <a:chExt cx="6554584" cy="2898381"/>
          </a:xfrm>
        </p:grpSpPr>
        <p:sp>
          <p:nvSpPr>
            <p:cNvPr name="Freeform 24" id="24"/>
            <p:cNvSpPr/>
            <p:nvPr/>
          </p:nvSpPr>
          <p:spPr>
            <a:xfrm flipH="false" flipV="false" rot="0">
              <a:off x="19050" y="19050"/>
              <a:ext cx="6516497" cy="2860294"/>
            </a:xfrm>
            <a:custGeom>
              <a:avLst/>
              <a:gdLst/>
              <a:ahLst/>
              <a:cxnLst/>
              <a:rect r="r" b="b" t="t" l="l"/>
              <a:pathLst>
                <a:path h="2860294" w="6516497">
                  <a:moveTo>
                    <a:pt x="0" y="182880"/>
                  </a:moveTo>
                  <a:cubicBezTo>
                    <a:pt x="0" y="81915"/>
                    <a:pt x="82550" y="0"/>
                    <a:pt x="184277" y="0"/>
                  </a:cubicBezTo>
                  <a:lnTo>
                    <a:pt x="6332220" y="0"/>
                  </a:lnTo>
                  <a:cubicBezTo>
                    <a:pt x="6433947" y="0"/>
                    <a:pt x="6516497" y="81915"/>
                    <a:pt x="6516497" y="182880"/>
                  </a:cubicBezTo>
                  <a:lnTo>
                    <a:pt x="6516497" y="2677414"/>
                  </a:lnTo>
                  <a:cubicBezTo>
                    <a:pt x="6516497" y="2778379"/>
                    <a:pt x="6433947" y="2860294"/>
                    <a:pt x="6332220" y="2860294"/>
                  </a:cubicBezTo>
                  <a:lnTo>
                    <a:pt x="184277" y="2860294"/>
                  </a:lnTo>
                  <a:cubicBezTo>
                    <a:pt x="82550" y="2860294"/>
                    <a:pt x="0" y="2778379"/>
                    <a:pt x="0" y="2677414"/>
                  </a:cubicBezTo>
                  <a:close/>
                </a:path>
              </a:pathLst>
            </a:custGeom>
            <a:solidFill>
              <a:srgbClr val="FDFAF7"/>
            </a:solidFill>
          </p:spPr>
        </p:sp>
        <p:sp>
          <p:nvSpPr>
            <p:cNvPr name="Freeform 25" id="25"/>
            <p:cNvSpPr/>
            <p:nvPr/>
          </p:nvSpPr>
          <p:spPr>
            <a:xfrm flipH="false" flipV="false" rot="0">
              <a:off x="0" y="0"/>
              <a:ext cx="6554597" cy="2898394"/>
            </a:xfrm>
            <a:custGeom>
              <a:avLst/>
              <a:gdLst/>
              <a:ahLst/>
              <a:cxnLst/>
              <a:rect r="r" b="b" t="t" l="l"/>
              <a:pathLst>
                <a:path h="2898394" w="6554597">
                  <a:moveTo>
                    <a:pt x="0" y="201930"/>
                  </a:moveTo>
                  <a:cubicBezTo>
                    <a:pt x="0" y="90297"/>
                    <a:pt x="91186" y="0"/>
                    <a:pt x="203327" y="0"/>
                  </a:cubicBezTo>
                  <a:lnTo>
                    <a:pt x="6351270" y="0"/>
                  </a:lnTo>
                  <a:lnTo>
                    <a:pt x="6351270" y="19050"/>
                  </a:lnTo>
                  <a:lnTo>
                    <a:pt x="6351270" y="0"/>
                  </a:lnTo>
                  <a:cubicBezTo>
                    <a:pt x="6463411" y="0"/>
                    <a:pt x="6554597" y="90297"/>
                    <a:pt x="6554597" y="201930"/>
                  </a:cubicBezTo>
                  <a:lnTo>
                    <a:pt x="6535547" y="201930"/>
                  </a:lnTo>
                  <a:lnTo>
                    <a:pt x="6554597" y="201930"/>
                  </a:lnTo>
                  <a:lnTo>
                    <a:pt x="6554597" y="2696464"/>
                  </a:lnTo>
                  <a:lnTo>
                    <a:pt x="6535547" y="2696464"/>
                  </a:lnTo>
                  <a:lnTo>
                    <a:pt x="6554597" y="2696464"/>
                  </a:lnTo>
                  <a:cubicBezTo>
                    <a:pt x="6554597" y="2808097"/>
                    <a:pt x="6463411" y="2898394"/>
                    <a:pt x="6351270" y="2898394"/>
                  </a:cubicBezTo>
                  <a:lnTo>
                    <a:pt x="6351270" y="2879344"/>
                  </a:lnTo>
                  <a:lnTo>
                    <a:pt x="6351270" y="2898394"/>
                  </a:lnTo>
                  <a:lnTo>
                    <a:pt x="203327" y="2898394"/>
                  </a:lnTo>
                  <a:lnTo>
                    <a:pt x="203327" y="2879344"/>
                  </a:lnTo>
                  <a:lnTo>
                    <a:pt x="203327" y="2898394"/>
                  </a:lnTo>
                  <a:cubicBezTo>
                    <a:pt x="91186" y="2898394"/>
                    <a:pt x="0" y="2808097"/>
                    <a:pt x="0" y="2696464"/>
                  </a:cubicBezTo>
                  <a:lnTo>
                    <a:pt x="0" y="201930"/>
                  </a:lnTo>
                  <a:lnTo>
                    <a:pt x="19050" y="201930"/>
                  </a:lnTo>
                  <a:lnTo>
                    <a:pt x="0" y="201930"/>
                  </a:lnTo>
                  <a:moveTo>
                    <a:pt x="38100" y="201930"/>
                  </a:moveTo>
                  <a:lnTo>
                    <a:pt x="38100" y="2696464"/>
                  </a:lnTo>
                  <a:lnTo>
                    <a:pt x="19050" y="2696464"/>
                  </a:lnTo>
                  <a:lnTo>
                    <a:pt x="38100" y="2696464"/>
                  </a:lnTo>
                  <a:cubicBezTo>
                    <a:pt x="38100" y="2786761"/>
                    <a:pt x="111887" y="2860294"/>
                    <a:pt x="203327" y="2860294"/>
                  </a:cubicBezTo>
                  <a:lnTo>
                    <a:pt x="6351270" y="2860294"/>
                  </a:lnTo>
                  <a:cubicBezTo>
                    <a:pt x="6442583" y="2860294"/>
                    <a:pt x="6516497" y="2786761"/>
                    <a:pt x="6516497" y="2696464"/>
                  </a:cubicBezTo>
                  <a:lnTo>
                    <a:pt x="6516497" y="201930"/>
                  </a:lnTo>
                  <a:cubicBezTo>
                    <a:pt x="6516497" y="111633"/>
                    <a:pt x="6442710" y="38100"/>
                    <a:pt x="6351270" y="38100"/>
                  </a:cubicBezTo>
                  <a:lnTo>
                    <a:pt x="203327" y="38100"/>
                  </a:lnTo>
                  <a:lnTo>
                    <a:pt x="203327" y="19050"/>
                  </a:lnTo>
                  <a:lnTo>
                    <a:pt x="203327" y="38100"/>
                  </a:lnTo>
                  <a:cubicBezTo>
                    <a:pt x="111887" y="38100"/>
                    <a:pt x="38100" y="111633"/>
                    <a:pt x="38100" y="201930"/>
                  </a:cubicBezTo>
                  <a:close/>
                </a:path>
              </a:pathLst>
            </a:custGeom>
            <a:solidFill>
              <a:srgbClr val="C6BDDA"/>
            </a:solidFill>
          </p:spPr>
        </p:sp>
      </p:grpSp>
      <p:grpSp>
        <p:nvGrpSpPr>
          <p:cNvPr name="Group 26" id="26"/>
          <p:cNvGrpSpPr/>
          <p:nvPr/>
        </p:nvGrpSpPr>
        <p:grpSpPr>
          <a:xfrm rot="0">
            <a:off x="718690" y="5861152"/>
            <a:ext cx="114300" cy="2145211"/>
            <a:chOff x="0" y="0"/>
            <a:chExt cx="152400" cy="2860281"/>
          </a:xfrm>
        </p:grpSpPr>
        <p:sp>
          <p:nvSpPr>
            <p:cNvPr name="Freeform 27" id="27"/>
            <p:cNvSpPr/>
            <p:nvPr/>
          </p:nvSpPr>
          <p:spPr>
            <a:xfrm flipH="false" flipV="false" rot="0">
              <a:off x="0" y="0"/>
              <a:ext cx="152400" cy="2860294"/>
            </a:xfrm>
            <a:custGeom>
              <a:avLst/>
              <a:gdLst/>
              <a:ahLst/>
              <a:cxnLst/>
              <a:rect r="r" b="b" t="t" l="l"/>
              <a:pathLst>
                <a:path h="2860294" w="152400">
                  <a:moveTo>
                    <a:pt x="0" y="76200"/>
                  </a:moveTo>
                  <a:cubicBezTo>
                    <a:pt x="0" y="34163"/>
                    <a:pt x="34163" y="0"/>
                    <a:pt x="76200" y="0"/>
                  </a:cubicBezTo>
                  <a:cubicBezTo>
                    <a:pt x="118237" y="0"/>
                    <a:pt x="152400" y="34163"/>
                    <a:pt x="152400" y="76200"/>
                  </a:cubicBezTo>
                  <a:lnTo>
                    <a:pt x="152400" y="2784094"/>
                  </a:lnTo>
                  <a:cubicBezTo>
                    <a:pt x="152400" y="2826131"/>
                    <a:pt x="118237" y="2860294"/>
                    <a:pt x="76200" y="2860294"/>
                  </a:cubicBezTo>
                  <a:cubicBezTo>
                    <a:pt x="34163" y="2860294"/>
                    <a:pt x="0" y="2826131"/>
                    <a:pt x="0" y="2784094"/>
                  </a:cubicBezTo>
                  <a:close/>
                </a:path>
              </a:pathLst>
            </a:custGeom>
            <a:solidFill>
              <a:srgbClr val="6237C8"/>
            </a:solidFill>
          </p:spPr>
        </p:sp>
      </p:grpSp>
      <p:sp>
        <p:nvSpPr>
          <p:cNvPr name="TextBox 28" id="28"/>
          <p:cNvSpPr txBox="true"/>
          <p:nvPr/>
        </p:nvSpPr>
        <p:spPr>
          <a:xfrm rot="0">
            <a:off x="1074982" y="6084094"/>
            <a:ext cx="3105150" cy="386058"/>
          </a:xfrm>
          <a:prstGeom prst="rect">
            <a:avLst/>
          </a:prstGeom>
        </p:spPr>
        <p:txBody>
          <a:bodyPr anchor="t" rtlCol="false" tIns="0" lIns="0" bIns="0" rIns="0">
            <a:spAutoFit/>
          </a:bodyPr>
          <a:lstStyle/>
          <a:p>
            <a:pPr algn="l">
              <a:lnSpc>
                <a:spcPts val="2875"/>
              </a:lnSpc>
            </a:pPr>
            <a:r>
              <a:rPr lang="en-US" sz="2249" b="true">
                <a:solidFill>
                  <a:srgbClr val="272525"/>
                </a:solidFill>
                <a:latin typeface="Petrona Bold"/>
                <a:ea typeface="Petrona Bold"/>
                <a:cs typeface="Petrona Bold"/>
                <a:sym typeface="Petrona Bold"/>
              </a:rPr>
              <a:t>Internet Infrastructure</a:t>
            </a:r>
          </a:p>
        </p:txBody>
      </p:sp>
      <p:sp>
        <p:nvSpPr>
          <p:cNvPr name="TextBox 29" id="29"/>
          <p:cNvSpPr txBox="true"/>
          <p:nvPr/>
        </p:nvSpPr>
        <p:spPr>
          <a:xfrm rot="0">
            <a:off x="1074982" y="6518967"/>
            <a:ext cx="4317654" cy="1245394"/>
          </a:xfrm>
          <a:prstGeom prst="rect">
            <a:avLst/>
          </a:prstGeom>
        </p:spPr>
        <p:txBody>
          <a:bodyPr anchor="t" rtlCol="false" tIns="0" lIns="0" bIns="0" rIns="0">
            <a:spAutoFit/>
          </a:bodyPr>
          <a:lstStyle/>
          <a:p>
            <a:pPr algn="l">
              <a:lnSpc>
                <a:spcPts val="2312"/>
              </a:lnSpc>
            </a:pPr>
            <a:r>
              <a:rPr lang="en-US" sz="1625">
                <a:solidFill>
                  <a:srgbClr val="272525"/>
                </a:solidFill>
                <a:latin typeface="Inter"/>
                <a:ea typeface="Inter"/>
                <a:cs typeface="Inter"/>
                <a:sym typeface="Inter"/>
              </a:rPr>
              <a:t>Web servers, databases, network routers, and protocol implementations rely on C. The internet's backbone runs on C-based software for speed and reliability.</a:t>
            </a:r>
          </a:p>
        </p:txBody>
      </p:sp>
      <p:grpSp>
        <p:nvGrpSpPr>
          <p:cNvPr name="Group 30" id="30"/>
          <p:cNvGrpSpPr/>
          <p:nvPr/>
        </p:nvGrpSpPr>
        <p:grpSpPr>
          <a:xfrm rot="0">
            <a:off x="5781084" y="5846864"/>
            <a:ext cx="4915938" cy="2173786"/>
            <a:chOff x="0" y="0"/>
            <a:chExt cx="6554584" cy="2898381"/>
          </a:xfrm>
        </p:grpSpPr>
        <p:sp>
          <p:nvSpPr>
            <p:cNvPr name="Freeform 31" id="31"/>
            <p:cNvSpPr/>
            <p:nvPr/>
          </p:nvSpPr>
          <p:spPr>
            <a:xfrm flipH="false" flipV="false" rot="0">
              <a:off x="19050" y="19050"/>
              <a:ext cx="6516497" cy="2860294"/>
            </a:xfrm>
            <a:custGeom>
              <a:avLst/>
              <a:gdLst/>
              <a:ahLst/>
              <a:cxnLst/>
              <a:rect r="r" b="b" t="t" l="l"/>
              <a:pathLst>
                <a:path h="2860294" w="6516497">
                  <a:moveTo>
                    <a:pt x="0" y="182880"/>
                  </a:moveTo>
                  <a:cubicBezTo>
                    <a:pt x="0" y="81915"/>
                    <a:pt x="82550" y="0"/>
                    <a:pt x="184277" y="0"/>
                  </a:cubicBezTo>
                  <a:lnTo>
                    <a:pt x="6332220" y="0"/>
                  </a:lnTo>
                  <a:cubicBezTo>
                    <a:pt x="6433947" y="0"/>
                    <a:pt x="6516497" y="81915"/>
                    <a:pt x="6516497" y="182880"/>
                  </a:cubicBezTo>
                  <a:lnTo>
                    <a:pt x="6516497" y="2677414"/>
                  </a:lnTo>
                  <a:cubicBezTo>
                    <a:pt x="6516497" y="2778379"/>
                    <a:pt x="6433947" y="2860294"/>
                    <a:pt x="6332220" y="2860294"/>
                  </a:cubicBezTo>
                  <a:lnTo>
                    <a:pt x="184277" y="2860294"/>
                  </a:lnTo>
                  <a:cubicBezTo>
                    <a:pt x="82550" y="2860294"/>
                    <a:pt x="0" y="2778379"/>
                    <a:pt x="0" y="2677414"/>
                  </a:cubicBezTo>
                  <a:close/>
                </a:path>
              </a:pathLst>
            </a:custGeom>
            <a:solidFill>
              <a:srgbClr val="FDFAF7"/>
            </a:solidFill>
          </p:spPr>
        </p:sp>
        <p:sp>
          <p:nvSpPr>
            <p:cNvPr name="Freeform 32" id="32"/>
            <p:cNvSpPr/>
            <p:nvPr/>
          </p:nvSpPr>
          <p:spPr>
            <a:xfrm flipH="false" flipV="false" rot="0">
              <a:off x="0" y="0"/>
              <a:ext cx="6554597" cy="2898394"/>
            </a:xfrm>
            <a:custGeom>
              <a:avLst/>
              <a:gdLst/>
              <a:ahLst/>
              <a:cxnLst/>
              <a:rect r="r" b="b" t="t" l="l"/>
              <a:pathLst>
                <a:path h="2898394" w="6554597">
                  <a:moveTo>
                    <a:pt x="0" y="201930"/>
                  </a:moveTo>
                  <a:cubicBezTo>
                    <a:pt x="0" y="90297"/>
                    <a:pt x="91186" y="0"/>
                    <a:pt x="203327" y="0"/>
                  </a:cubicBezTo>
                  <a:lnTo>
                    <a:pt x="6351270" y="0"/>
                  </a:lnTo>
                  <a:lnTo>
                    <a:pt x="6351270" y="19050"/>
                  </a:lnTo>
                  <a:lnTo>
                    <a:pt x="6351270" y="0"/>
                  </a:lnTo>
                  <a:cubicBezTo>
                    <a:pt x="6463411" y="0"/>
                    <a:pt x="6554597" y="90297"/>
                    <a:pt x="6554597" y="201930"/>
                  </a:cubicBezTo>
                  <a:lnTo>
                    <a:pt x="6535547" y="201930"/>
                  </a:lnTo>
                  <a:lnTo>
                    <a:pt x="6554597" y="201930"/>
                  </a:lnTo>
                  <a:lnTo>
                    <a:pt x="6554597" y="2696464"/>
                  </a:lnTo>
                  <a:lnTo>
                    <a:pt x="6535547" y="2696464"/>
                  </a:lnTo>
                  <a:lnTo>
                    <a:pt x="6554597" y="2696464"/>
                  </a:lnTo>
                  <a:cubicBezTo>
                    <a:pt x="6554597" y="2808097"/>
                    <a:pt x="6463411" y="2898394"/>
                    <a:pt x="6351270" y="2898394"/>
                  </a:cubicBezTo>
                  <a:lnTo>
                    <a:pt x="6351270" y="2879344"/>
                  </a:lnTo>
                  <a:lnTo>
                    <a:pt x="6351270" y="2898394"/>
                  </a:lnTo>
                  <a:lnTo>
                    <a:pt x="203327" y="2898394"/>
                  </a:lnTo>
                  <a:lnTo>
                    <a:pt x="203327" y="2879344"/>
                  </a:lnTo>
                  <a:lnTo>
                    <a:pt x="203327" y="2898394"/>
                  </a:lnTo>
                  <a:cubicBezTo>
                    <a:pt x="91186" y="2898394"/>
                    <a:pt x="0" y="2808097"/>
                    <a:pt x="0" y="2696464"/>
                  </a:cubicBezTo>
                  <a:lnTo>
                    <a:pt x="0" y="201930"/>
                  </a:lnTo>
                  <a:lnTo>
                    <a:pt x="19050" y="201930"/>
                  </a:lnTo>
                  <a:lnTo>
                    <a:pt x="0" y="201930"/>
                  </a:lnTo>
                  <a:moveTo>
                    <a:pt x="38100" y="201930"/>
                  </a:moveTo>
                  <a:lnTo>
                    <a:pt x="38100" y="2696464"/>
                  </a:lnTo>
                  <a:lnTo>
                    <a:pt x="19050" y="2696464"/>
                  </a:lnTo>
                  <a:lnTo>
                    <a:pt x="38100" y="2696464"/>
                  </a:lnTo>
                  <a:cubicBezTo>
                    <a:pt x="38100" y="2786761"/>
                    <a:pt x="111887" y="2860294"/>
                    <a:pt x="203327" y="2860294"/>
                  </a:cubicBezTo>
                  <a:lnTo>
                    <a:pt x="6351270" y="2860294"/>
                  </a:lnTo>
                  <a:cubicBezTo>
                    <a:pt x="6442583" y="2860294"/>
                    <a:pt x="6516497" y="2786761"/>
                    <a:pt x="6516497" y="2696464"/>
                  </a:cubicBezTo>
                  <a:lnTo>
                    <a:pt x="6516497" y="201930"/>
                  </a:lnTo>
                  <a:cubicBezTo>
                    <a:pt x="6516497" y="111633"/>
                    <a:pt x="6442710" y="38100"/>
                    <a:pt x="6351270" y="38100"/>
                  </a:cubicBezTo>
                  <a:lnTo>
                    <a:pt x="203327" y="38100"/>
                  </a:lnTo>
                  <a:lnTo>
                    <a:pt x="203327" y="19050"/>
                  </a:lnTo>
                  <a:lnTo>
                    <a:pt x="203327" y="38100"/>
                  </a:lnTo>
                  <a:cubicBezTo>
                    <a:pt x="111887" y="38100"/>
                    <a:pt x="38100" y="111633"/>
                    <a:pt x="38100" y="201930"/>
                  </a:cubicBezTo>
                  <a:close/>
                </a:path>
              </a:pathLst>
            </a:custGeom>
            <a:solidFill>
              <a:srgbClr val="C6BDDA"/>
            </a:solidFill>
          </p:spPr>
        </p:sp>
      </p:grpSp>
      <p:grpSp>
        <p:nvGrpSpPr>
          <p:cNvPr name="Group 33" id="33"/>
          <p:cNvGrpSpPr/>
          <p:nvPr/>
        </p:nvGrpSpPr>
        <p:grpSpPr>
          <a:xfrm rot="0">
            <a:off x="5766797" y="5861152"/>
            <a:ext cx="114300" cy="2145211"/>
            <a:chOff x="0" y="0"/>
            <a:chExt cx="152400" cy="2860281"/>
          </a:xfrm>
        </p:grpSpPr>
        <p:sp>
          <p:nvSpPr>
            <p:cNvPr name="Freeform 34" id="34"/>
            <p:cNvSpPr/>
            <p:nvPr/>
          </p:nvSpPr>
          <p:spPr>
            <a:xfrm flipH="false" flipV="false" rot="0">
              <a:off x="0" y="0"/>
              <a:ext cx="152400" cy="2860294"/>
            </a:xfrm>
            <a:custGeom>
              <a:avLst/>
              <a:gdLst/>
              <a:ahLst/>
              <a:cxnLst/>
              <a:rect r="r" b="b" t="t" l="l"/>
              <a:pathLst>
                <a:path h="2860294" w="152400">
                  <a:moveTo>
                    <a:pt x="0" y="76200"/>
                  </a:moveTo>
                  <a:cubicBezTo>
                    <a:pt x="0" y="34163"/>
                    <a:pt x="34163" y="0"/>
                    <a:pt x="76200" y="0"/>
                  </a:cubicBezTo>
                  <a:cubicBezTo>
                    <a:pt x="118237" y="0"/>
                    <a:pt x="152400" y="34163"/>
                    <a:pt x="152400" y="76200"/>
                  </a:cubicBezTo>
                  <a:lnTo>
                    <a:pt x="152400" y="2784094"/>
                  </a:lnTo>
                  <a:cubicBezTo>
                    <a:pt x="152400" y="2826131"/>
                    <a:pt x="118237" y="2860294"/>
                    <a:pt x="76200" y="2860294"/>
                  </a:cubicBezTo>
                  <a:cubicBezTo>
                    <a:pt x="34163" y="2860294"/>
                    <a:pt x="0" y="2826131"/>
                    <a:pt x="0" y="2784094"/>
                  </a:cubicBezTo>
                  <a:close/>
                </a:path>
              </a:pathLst>
            </a:custGeom>
            <a:solidFill>
              <a:srgbClr val="6237C8"/>
            </a:solidFill>
          </p:spPr>
        </p:sp>
      </p:grpSp>
      <p:sp>
        <p:nvSpPr>
          <p:cNvPr name="TextBox 35" id="35"/>
          <p:cNvSpPr txBox="true"/>
          <p:nvPr/>
        </p:nvSpPr>
        <p:spPr>
          <a:xfrm rot="0">
            <a:off x="6123089" y="6084094"/>
            <a:ext cx="2936081" cy="386058"/>
          </a:xfrm>
          <a:prstGeom prst="rect">
            <a:avLst/>
          </a:prstGeom>
        </p:spPr>
        <p:txBody>
          <a:bodyPr anchor="t" rtlCol="false" tIns="0" lIns="0" bIns="0" rIns="0">
            <a:spAutoFit/>
          </a:bodyPr>
          <a:lstStyle/>
          <a:p>
            <a:pPr algn="l">
              <a:lnSpc>
                <a:spcPts val="2875"/>
              </a:lnSpc>
            </a:pPr>
            <a:r>
              <a:rPr lang="en-US" sz="2249" b="true">
                <a:solidFill>
                  <a:srgbClr val="272525"/>
                </a:solidFill>
                <a:latin typeface="Petrona Bold"/>
                <a:ea typeface="Petrona Bold"/>
                <a:cs typeface="Petrona Bold"/>
                <a:sym typeface="Petrona Bold"/>
              </a:rPr>
              <a:t>Gaming and Graphics</a:t>
            </a:r>
          </a:p>
        </p:txBody>
      </p:sp>
      <p:sp>
        <p:nvSpPr>
          <p:cNvPr name="TextBox 36" id="36"/>
          <p:cNvSpPr txBox="true"/>
          <p:nvPr/>
        </p:nvSpPr>
        <p:spPr>
          <a:xfrm rot="0">
            <a:off x="6123089" y="6518967"/>
            <a:ext cx="4317654" cy="1245394"/>
          </a:xfrm>
          <a:prstGeom prst="rect">
            <a:avLst/>
          </a:prstGeom>
        </p:spPr>
        <p:txBody>
          <a:bodyPr anchor="t" rtlCol="false" tIns="0" lIns="0" bIns="0" rIns="0">
            <a:spAutoFit/>
          </a:bodyPr>
          <a:lstStyle/>
          <a:p>
            <a:pPr algn="l">
              <a:lnSpc>
                <a:spcPts val="2312"/>
              </a:lnSpc>
            </a:pPr>
            <a:r>
              <a:rPr lang="en-US" sz="1625">
                <a:solidFill>
                  <a:srgbClr val="272525"/>
                </a:solidFill>
                <a:latin typeface="Inter"/>
                <a:ea typeface="Inter"/>
                <a:cs typeface="Inter"/>
                <a:sym typeface="Inter"/>
              </a:rPr>
              <a:t>Game engines, graphics drivers, and 3D rendering software use C for real-time performance. Your gaming experience depends on C's computational efficiency.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B9A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676711" y="952640"/>
            <a:ext cx="8781659" cy="8381719"/>
          </a:xfrm>
          <a:custGeom>
            <a:avLst/>
            <a:gdLst/>
            <a:ahLst/>
            <a:cxnLst/>
            <a:rect r="r" b="b" t="t" l="l"/>
            <a:pathLst>
              <a:path h="8381719" w="8781659">
                <a:moveTo>
                  <a:pt x="0" y="0"/>
                </a:moveTo>
                <a:lnTo>
                  <a:pt x="8781659" y="0"/>
                </a:lnTo>
                <a:lnTo>
                  <a:pt x="8781659" y="8381720"/>
                </a:lnTo>
                <a:lnTo>
                  <a:pt x="0" y="8381720"/>
                </a:lnTo>
                <a:lnTo>
                  <a:pt x="0" y="0"/>
                </a:lnTo>
                <a:close/>
              </a:path>
            </a:pathLst>
          </a:custGeom>
          <a:blipFill>
            <a:blip r:embed="rId2">
              <a:extLst>
                <a:ext uri="{96DAC541-7B7A-43D3-8B79-37D633B846F1}">
                  <asvg:svgBlip xmlns:asvg="http://schemas.microsoft.com/office/drawing/2016/SVG/main" r:embed="rId3"/>
                </a:ext>
              </a:extLst>
            </a:blip>
            <a:stretch>
              <a:fillRect l="0" t="-19171" r="0" b="0"/>
            </a:stretch>
          </a:blipFill>
        </p:spPr>
      </p:sp>
      <p:sp>
        <p:nvSpPr>
          <p:cNvPr name="Freeform 3" id="3"/>
          <p:cNvSpPr/>
          <p:nvPr/>
        </p:nvSpPr>
        <p:spPr>
          <a:xfrm flipH="false" flipV="false" rot="-5400000">
            <a:off x="8901689" y="1024699"/>
            <a:ext cx="8769843" cy="8249417"/>
          </a:xfrm>
          <a:custGeom>
            <a:avLst/>
            <a:gdLst/>
            <a:ahLst/>
            <a:cxnLst/>
            <a:rect r="r" b="b" t="t" l="l"/>
            <a:pathLst>
              <a:path h="8249417" w="8769843">
                <a:moveTo>
                  <a:pt x="0" y="0"/>
                </a:moveTo>
                <a:lnTo>
                  <a:pt x="8769843" y="0"/>
                </a:lnTo>
                <a:lnTo>
                  <a:pt x="8769843" y="8249417"/>
                </a:lnTo>
                <a:lnTo>
                  <a:pt x="0" y="8249417"/>
                </a:lnTo>
                <a:lnTo>
                  <a:pt x="0" y="0"/>
                </a:lnTo>
                <a:close/>
              </a:path>
            </a:pathLst>
          </a:custGeom>
          <a:blipFill>
            <a:blip r:embed="rId2">
              <a:extLst>
                <a:ext uri="{96DAC541-7B7A-43D3-8B79-37D633B846F1}">
                  <asvg:svgBlip xmlns:asvg="http://schemas.microsoft.com/office/drawing/2016/SVG/main" r:embed="rId3"/>
                </a:ext>
              </a:extLst>
            </a:blip>
            <a:stretch>
              <a:fillRect l="0" t="-21082" r="-134" b="0"/>
            </a:stretch>
          </a:blipFill>
        </p:spPr>
      </p:sp>
      <p:sp>
        <p:nvSpPr>
          <p:cNvPr name="TextBox 4" id="4"/>
          <p:cNvSpPr txBox="true"/>
          <p:nvPr/>
        </p:nvSpPr>
        <p:spPr>
          <a:xfrm rot="0">
            <a:off x="5291301" y="2523885"/>
            <a:ext cx="7130119" cy="1385841"/>
          </a:xfrm>
          <a:prstGeom prst="rect">
            <a:avLst/>
          </a:prstGeom>
        </p:spPr>
        <p:txBody>
          <a:bodyPr anchor="t" rtlCol="false" tIns="0" lIns="0" bIns="0" rIns="0">
            <a:spAutoFit/>
          </a:bodyPr>
          <a:lstStyle/>
          <a:p>
            <a:pPr algn="ctr">
              <a:lnSpc>
                <a:spcPts val="10633"/>
              </a:lnSpc>
            </a:pPr>
            <a:r>
              <a:rPr lang="en-US" sz="9579">
                <a:solidFill>
                  <a:srgbClr val="000000"/>
                </a:solidFill>
                <a:latin typeface="Marykate"/>
                <a:ea typeface="Marykate"/>
                <a:cs typeface="Marykate"/>
                <a:sym typeface="Marykate"/>
              </a:rPr>
              <a:t>Conclusion</a:t>
            </a:r>
          </a:p>
        </p:txBody>
      </p:sp>
      <p:sp>
        <p:nvSpPr>
          <p:cNvPr name="TextBox 5" id="5"/>
          <p:cNvSpPr txBox="true"/>
          <p:nvPr/>
        </p:nvSpPr>
        <p:spPr>
          <a:xfrm rot="0">
            <a:off x="3980140" y="4060955"/>
            <a:ext cx="10327720" cy="3309054"/>
          </a:xfrm>
          <a:prstGeom prst="rect">
            <a:avLst/>
          </a:prstGeom>
        </p:spPr>
        <p:txBody>
          <a:bodyPr anchor="t" rtlCol="false" tIns="0" lIns="0" bIns="0" rIns="0">
            <a:spAutoFit/>
          </a:bodyPr>
          <a:lstStyle/>
          <a:p>
            <a:pPr algn="ctr">
              <a:lnSpc>
                <a:spcPts val="3264"/>
              </a:lnSpc>
            </a:pPr>
            <a:r>
              <a:rPr lang="en-US" sz="2492">
                <a:solidFill>
                  <a:srgbClr val="000000"/>
                </a:solidFill>
                <a:latin typeface="Nunito"/>
                <a:ea typeface="Nunito"/>
                <a:cs typeface="Nunito"/>
                <a:sym typeface="Nunito"/>
              </a:rPr>
              <a:t>C</a:t>
            </a:r>
            <a:r>
              <a:rPr lang="en-US" sz="2492">
                <a:solidFill>
                  <a:srgbClr val="000000"/>
                </a:solidFill>
                <a:latin typeface="Nunito"/>
                <a:ea typeface="Nunito"/>
                <a:cs typeface="Nunito"/>
                <a:sym typeface="Nunito"/>
              </a:rPr>
              <a:t> is the foundation of modern programming languages. Developed by Dennis Ritchie, it replaced complex assembly code and provided powerful system-level control with portability and efficiency. Its simple structure, fast performance, and direct memory access make it ideal for operating systems and embedded systems. Through continuous standardization from C89 to C11 and beyond, C remains relevant today. It builds strong programming fundamentals and continues to influence many modern languages, proving its lasting importance in technology.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2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DFAF7"/>
            </a:solidFill>
          </p:spPr>
        </p:sp>
      </p:grpSp>
      <p:grpSp>
        <p:nvGrpSpPr>
          <p:cNvPr name="Group 6" id="6"/>
          <p:cNvGrpSpPr/>
          <p:nvPr/>
        </p:nvGrpSpPr>
        <p:grpSpPr>
          <a:xfrm rot="0">
            <a:off x="1143000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992238" y="3530356"/>
            <a:ext cx="9445523" cy="1392584"/>
          </a:xfrm>
          <a:prstGeom prst="rect">
            <a:avLst/>
          </a:prstGeom>
        </p:spPr>
        <p:txBody>
          <a:bodyPr anchor="t" rtlCol="false" tIns="0" lIns="0" bIns="0" rIns="0">
            <a:spAutoFit/>
          </a:bodyPr>
          <a:lstStyle/>
          <a:p>
            <a:pPr algn="l">
              <a:lnSpc>
                <a:spcPts val="10562"/>
              </a:lnSpc>
            </a:pPr>
            <a:r>
              <a:rPr lang="en-US" sz="8437" b="true">
                <a:solidFill>
                  <a:srgbClr val="F95F88"/>
                </a:solidFill>
                <a:latin typeface="Petrona Bold"/>
                <a:ea typeface="Petrona Bold"/>
                <a:cs typeface="Petrona Bold"/>
                <a:sym typeface="Petrona Bold"/>
              </a:rPr>
              <a:t>Thank You</a:t>
            </a:r>
          </a:p>
        </p:txBody>
      </p:sp>
      <p:sp>
        <p:nvSpPr>
          <p:cNvPr name="TextBox 9" id="9"/>
          <p:cNvSpPr txBox="true"/>
          <p:nvPr/>
        </p:nvSpPr>
        <p:spPr>
          <a:xfrm rot="0">
            <a:off x="992238" y="5262410"/>
            <a:ext cx="9445523" cy="1446609"/>
          </a:xfrm>
          <a:prstGeom prst="rect">
            <a:avLst/>
          </a:prstGeom>
        </p:spPr>
        <p:txBody>
          <a:bodyPr anchor="t" rtlCol="false" tIns="0" lIns="0" bIns="0" rIns="0">
            <a:spAutoFit/>
          </a:bodyPr>
          <a:lstStyle/>
          <a:p>
            <a:pPr algn="l">
              <a:lnSpc>
                <a:spcPts val="3562"/>
              </a:lnSpc>
            </a:pPr>
            <a:r>
              <a:rPr lang="en-US" sz="2187">
                <a:solidFill>
                  <a:srgbClr val="272525"/>
                </a:solidFill>
                <a:latin typeface="Inter"/>
                <a:ea typeface="Inter"/>
                <a:cs typeface="Inter"/>
                <a:sym typeface="Inter"/>
              </a:rPr>
              <a:t>C's legacy continues to shape the future of programming, proving that the mother of all languages remains relevant, powerful, and indispensable in modern computing.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35396" y="0"/>
            <a:ext cx="7217208" cy="10287000"/>
          </a:xfrm>
          <a:custGeom>
            <a:avLst/>
            <a:gdLst/>
            <a:ahLst/>
            <a:cxnLst/>
            <a:rect r="r" b="b" t="t" l="l"/>
            <a:pathLst>
              <a:path h="10287000" w="7217208">
                <a:moveTo>
                  <a:pt x="0" y="0"/>
                </a:moveTo>
                <a:lnTo>
                  <a:pt x="7217208" y="0"/>
                </a:lnTo>
                <a:lnTo>
                  <a:pt x="7217208" y="10287000"/>
                </a:lnTo>
                <a:lnTo>
                  <a:pt x="0" y="10287000"/>
                </a:lnTo>
                <a:lnTo>
                  <a:pt x="0" y="0"/>
                </a:lnTo>
                <a:close/>
              </a:path>
            </a:pathLst>
          </a:custGeom>
          <a:blipFill>
            <a:blip r:embed="rId2"/>
            <a:stretch>
              <a:fillRect l="0" t="-112" r="-1069" b="-112"/>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DAHBBYEoyZo</dc:identifier>
  <dcterms:modified xsi:type="dcterms:W3CDTF">2011-08-01T06:04:30Z</dcterms:modified>
  <cp:revision>1</cp:revision>
  <dc:title>Why-C-is-the-Mother-of-All-Programming-Languages (1).pptx</dc:title>
</cp:coreProperties>
</file>